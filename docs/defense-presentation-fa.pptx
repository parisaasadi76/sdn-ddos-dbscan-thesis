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bc374236904f35" /><Relationship Type="http://schemas.openxmlformats.org/officeDocument/2006/relationships/extended-properties" Target="/docProps/app.xml" Id="Rff060bf75d8b48ed" /><Relationship Type="http://schemas.openxmlformats.org/officeDocument/2006/relationships/officeDocument" Target="/ppt/presentation.xml" Id="R03f4def5385b45a2" /></Relationships>
</file>

<file path=ppt/presentation.xml><?xml version="1.0" encoding="utf-8"?>
<p:presentation xmlns:p="http://schemas.openxmlformats.org/presentationml/2006/main">
  <p:sldMasterIdLst>
    <p:sldMasterId xmlns:r="http://schemas.openxmlformats.org/officeDocument/2006/relationships" id="2147483648" r:id="R2a88e80c97d74376"/>
  </p:sldMasterIdLst>
  <p:notesMasterIdLst>
    <p:notesMasterId xmlns:r="http://schemas.openxmlformats.org/officeDocument/2006/relationships" r:id="Rc72505f1d04b4c6c"/>
  </p:notesMasterIdLst>
  <p:sldIdLst>
    <p:sldId xmlns:r="http://schemas.openxmlformats.org/officeDocument/2006/relationships" id="256" r:id="R6468bf6f51fb42df"/>
    <p:sldId xmlns:r="http://schemas.openxmlformats.org/officeDocument/2006/relationships" id="257" r:id="R993f6ace3cde4cf0"/>
    <p:sldId xmlns:r="http://schemas.openxmlformats.org/officeDocument/2006/relationships" id="258" r:id="R5f7926158fa64cc1"/>
    <p:sldId xmlns:r="http://schemas.openxmlformats.org/officeDocument/2006/relationships" id="259" r:id="R02461944e1014326"/>
    <p:sldId xmlns:r="http://schemas.openxmlformats.org/officeDocument/2006/relationships" id="260" r:id="R0280de2b6fe74b4e"/>
    <p:sldId xmlns:r="http://schemas.openxmlformats.org/officeDocument/2006/relationships" id="261" r:id="R468fb4cf29a04e1f"/>
    <p:sldId xmlns:r="http://schemas.openxmlformats.org/officeDocument/2006/relationships" id="262" r:id="Rb150bca4cafb45d4"/>
    <p:sldId xmlns:r="http://schemas.openxmlformats.org/officeDocument/2006/relationships" id="263" r:id="R358fbed25db7479e"/>
    <p:sldId xmlns:r="http://schemas.openxmlformats.org/officeDocument/2006/relationships" id="264" r:id="R80cb89301b644f16"/>
    <p:sldId xmlns:r="http://schemas.openxmlformats.org/officeDocument/2006/relationships" id="265" r:id="R5ee7cbfe053c4f90"/>
    <p:sldId xmlns:r="http://schemas.openxmlformats.org/officeDocument/2006/relationships" id="266" r:id="R9e795f695cff4f9f"/>
    <p:sldId xmlns:r="http://schemas.openxmlformats.org/officeDocument/2006/relationships" id="267" r:id="Ra0713019aeb443f3"/>
    <p:sldId xmlns:r="http://schemas.openxmlformats.org/officeDocument/2006/relationships" id="268" r:id="R989b2a1feb4d4578"/>
    <p:sldId xmlns:r="http://schemas.openxmlformats.org/officeDocument/2006/relationships" id="269" r:id="Rb7c46fae2a2d4da8"/>
    <p:sldId xmlns:r="http://schemas.openxmlformats.org/officeDocument/2006/relationships" id="270" r:id="R658d8b4a3426453b"/>
    <p:sldId xmlns:r="http://schemas.openxmlformats.org/officeDocument/2006/relationships" id="271" r:id="Rdf9d4a9c35724f95"/>
    <p:sldId xmlns:r="http://schemas.openxmlformats.org/officeDocument/2006/relationships" id="272" r:id="Rf3c5516a7d744b5e"/>
    <p:sldId xmlns:r="http://schemas.openxmlformats.org/officeDocument/2006/relationships" id="273" r:id="Raddaad3466464bc2"/>
    <p:sldId xmlns:r="http://schemas.openxmlformats.org/officeDocument/2006/relationships" id="274" r:id="R0df086f457a24c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fd271464e7433e" /><Relationship Type="http://schemas.openxmlformats.org/officeDocument/2006/relationships/slideMaster" Target="/ppt/slideMasters/slideMaster1.xml" Id="R2a88e80c97d74376" /><Relationship Type="http://schemas.openxmlformats.org/officeDocument/2006/relationships/notesMaster" Target="/ppt/notesMasters/notesMaster1.xml" Id="Rc72505f1d04b4c6c" /><Relationship Type="http://schemas.openxmlformats.org/officeDocument/2006/relationships/presProps" Target="/ppt/presProps.xml" Id="Re589499520d94f60" /><Relationship Type="http://schemas.openxmlformats.org/officeDocument/2006/relationships/tableStyles" Target="/ppt/tableStyles.xml" Id="Rcc43a3f7b11c419f" /><Relationship Type="http://schemas.openxmlformats.org/officeDocument/2006/relationships/slide" Target="/ppt/slides/slide1.xml" Id="R6468bf6f51fb42df" /><Relationship Type="http://schemas.openxmlformats.org/officeDocument/2006/relationships/slide" Target="/ppt/slides/slide2.xml" Id="R993f6ace3cde4cf0" /><Relationship Type="http://schemas.openxmlformats.org/officeDocument/2006/relationships/slide" Target="/ppt/slides/slide3.xml" Id="R5f7926158fa64cc1" /><Relationship Type="http://schemas.openxmlformats.org/officeDocument/2006/relationships/slide" Target="/ppt/slides/slide4.xml" Id="R02461944e1014326" /><Relationship Type="http://schemas.openxmlformats.org/officeDocument/2006/relationships/slide" Target="/ppt/slides/slide5.xml" Id="R0280de2b6fe74b4e" /><Relationship Type="http://schemas.openxmlformats.org/officeDocument/2006/relationships/slide" Target="/ppt/slides/slide6.xml" Id="R468fb4cf29a04e1f" /><Relationship Type="http://schemas.openxmlformats.org/officeDocument/2006/relationships/slide" Target="/ppt/slides/slide7.xml" Id="Rb150bca4cafb45d4" /><Relationship Type="http://schemas.openxmlformats.org/officeDocument/2006/relationships/slide" Target="/ppt/slides/slide8.xml" Id="R358fbed25db7479e" /><Relationship Type="http://schemas.openxmlformats.org/officeDocument/2006/relationships/slide" Target="/ppt/slides/slide9.xml" Id="R80cb89301b644f16" /><Relationship Type="http://schemas.openxmlformats.org/officeDocument/2006/relationships/slide" Target="/ppt/slides/slide10.xml" Id="R5ee7cbfe053c4f90" /><Relationship Type="http://schemas.openxmlformats.org/officeDocument/2006/relationships/slide" Target="/ppt/slides/slide11.xml" Id="R9e795f695cff4f9f" /><Relationship Type="http://schemas.openxmlformats.org/officeDocument/2006/relationships/slide" Target="/ppt/slides/slide12.xml" Id="Ra0713019aeb443f3" /><Relationship Type="http://schemas.openxmlformats.org/officeDocument/2006/relationships/slide" Target="/ppt/slides/slide13.xml" Id="R989b2a1feb4d4578" /><Relationship Type="http://schemas.openxmlformats.org/officeDocument/2006/relationships/slide" Target="/ppt/slides/slide14.xml" Id="Rb7c46fae2a2d4da8" /><Relationship Type="http://schemas.openxmlformats.org/officeDocument/2006/relationships/slide" Target="/ppt/slides/slide15.xml" Id="R658d8b4a3426453b" /><Relationship Type="http://schemas.openxmlformats.org/officeDocument/2006/relationships/slide" Target="/ppt/slides/slide16.xml" Id="Rdf9d4a9c35724f95" /><Relationship Type="http://schemas.openxmlformats.org/officeDocument/2006/relationships/slide" Target="/ppt/slides/slide17.xml" Id="Rf3c5516a7d744b5e" /><Relationship Type="http://schemas.openxmlformats.org/officeDocument/2006/relationships/slide" Target="/ppt/slides/slide18.xml" Id="Raddaad3466464bc2" /><Relationship Type="http://schemas.openxmlformats.org/officeDocument/2006/relationships/slide" Target="/ppt/slides/slide19.xml" Id="R0df086f457a24c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97471ae61743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ee55e641da484b" /><Relationship Type="http://schemas.openxmlformats.org/officeDocument/2006/relationships/notesMaster" Target="/ppt/notesMasters/notesMaster1.xml" Id="R5b40cf2598ea43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73fbc8e81a4dde" /><Relationship Type="http://schemas.openxmlformats.org/officeDocument/2006/relationships/notesMaster" Target="/ppt/notesMasters/notesMaster1.xml" Id="R2c107164ca0244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64070138594e9a" /><Relationship Type="http://schemas.openxmlformats.org/officeDocument/2006/relationships/notesMaster" Target="/ppt/notesMasters/notesMaster1.xml" Id="R16f91a860f9a4f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8662ef9b3a4606" /><Relationship Type="http://schemas.openxmlformats.org/officeDocument/2006/relationships/notesMaster" Target="/ppt/notesMasters/notesMaster1.xml" Id="R55399d3407c94f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ae554cda0a43bb" /><Relationship Type="http://schemas.openxmlformats.org/officeDocument/2006/relationships/notesMaster" Target="/ppt/notesMasters/notesMaster1.xml" Id="Rb6d1b5f40e9045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717bc7f23e4e40" /><Relationship Type="http://schemas.openxmlformats.org/officeDocument/2006/relationships/notesMaster" Target="/ppt/notesMasters/notesMaster1.xml" Id="R6e609987a33746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44bf7fe07148fb" /><Relationship Type="http://schemas.openxmlformats.org/officeDocument/2006/relationships/notesMaster" Target="/ppt/notesMasters/notesMaster1.xml" Id="R9830cdc482e04c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30f0e9f3ab47c9" /><Relationship Type="http://schemas.openxmlformats.org/officeDocument/2006/relationships/notesMaster" Target="/ppt/notesMasters/notesMaster1.xml" Id="Rc1a15747397c41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f61071045a4006" /><Relationship Type="http://schemas.openxmlformats.org/officeDocument/2006/relationships/notesMaster" Target="/ppt/notesMasters/notesMaster1.xml" Id="R3db3806915bd4d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1dfcce72ba43cd" /><Relationship Type="http://schemas.openxmlformats.org/officeDocument/2006/relationships/notesMaster" Target="/ppt/notesMasters/notesMaster1.xml" Id="R79ca9ba31ad74d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489bba17ae475c" /><Relationship Type="http://schemas.openxmlformats.org/officeDocument/2006/relationships/notesMaster" Target="/ppt/notesMasters/notesMaster1.xml" Id="R398fcb97c27641e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83a84384724baa" /><Relationship Type="http://schemas.openxmlformats.org/officeDocument/2006/relationships/notesMaster" Target="/ppt/notesMasters/notesMaster1.xml" Id="Rd76a1eeb3d6949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ad35b3189940c5" /><Relationship Type="http://schemas.openxmlformats.org/officeDocument/2006/relationships/notesMaster" Target="/ppt/notesMasters/notesMaster1.xml" Id="Rc10ed8919ae241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4d5bba441f4edd" /><Relationship Type="http://schemas.openxmlformats.org/officeDocument/2006/relationships/notesMaster" Target="/ppt/notesMasters/notesMaster1.xml" Id="R6c50b004ae7c40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bf82c3af984d80" /><Relationship Type="http://schemas.openxmlformats.org/officeDocument/2006/relationships/notesMaster" Target="/ppt/notesMasters/notesMaster1.xml" Id="Re94f57260f2041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3bf2aebe1b4e77" /><Relationship Type="http://schemas.openxmlformats.org/officeDocument/2006/relationships/notesMaster" Target="/ppt/notesMasters/notesMaster1.xml" Id="R474154df12fc46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b6e0313ae843fd" /><Relationship Type="http://schemas.openxmlformats.org/officeDocument/2006/relationships/notesMaster" Target="/ppt/notesMasters/notesMaster1.xml" Id="R6c5107df02064e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43ad7f6c504232" /><Relationship Type="http://schemas.openxmlformats.org/officeDocument/2006/relationships/notesMaster" Target="/ppt/notesMasters/notesMaster1.xml" Id="R0ab3c6ba579247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d94b9c4b0b41f2" /><Relationship Type="http://schemas.openxmlformats.org/officeDocument/2006/relationships/notesMaster" Target="/ppt/notesMasters/notesMaster1.xml" Id="Rd050229a403049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سلام و عرض ادب. در این ارائه، روش پیشنهادی برای تشخیص حملات پرنرخ ICMP در شبکه نرم‌افزارمحور با استفاده از DBSCAN را معرفی می‌کنم و نتایج ارزیابی مستقل آن را توضیح می‌دهم.</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ابتدا مسئله و شکاف پژوهش را بیان می‌کنم. سپس روش پیشنهادی و نحوه پیاده‌سازی را توضیح می‌دهم. بخش اصلی ارائه به نتایج ارزیابی مستقل اختصاص دارد و در پایان، محدودیت‌ها و مسیر توسعه ارائه می‌شود.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مسئله اصلی، تشخیص سریع ترافیک غیرعادی با اتکا به آمار جریان‌هاست. انتخاب روش بدون‌نظارت به این دلیل اهمیت دارد که جمع‌آوری داده برچسب‌خورده برای همه گونه‌های حمله دشوار است.</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DBSCAN دو پارامتر اصلی داریم: شعاع همسایگی eps و حداقل تعداد نمونه min_samples. نقاط هسته‌ای ساختار خوشه را شکل می‌دهند، نقاط مرزی به خوشه متصل می‌شوند و نقاط دورافتاده به‌عنوان نویز در نظر گرفته می‌شوند.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نوآوری اصلی در سطح یک پایان‌نامه کارشناسی ارشد، صرفاً استفاده از DBSCAN نیست؛ بلکه زنجیره کامل جمع‌آوری جریان، مهندسی ویژگی، تحلیل حساسیت و سپس آزمون مستقل است. همچنین ارزیابی تشخیص ناهنجاری از تحلیل ساختار خوشه‌ها جدا شده است.</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فرایند از تولید ترافیک در محیط SDN آغاز می‌شود. آمار جریان جمع‌آوری می‌شود، نرخ‌ها محاسبه و استاندارد می‌شوند، DBSCAN ساختار داده و نویزها را مشخص می‌کند و در نهایت عملکرد تشخیص با معیارهای استاندارد سنجیده می‌شود.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توپولوژی شامل یک سوئیچ OVS، سه میزبان و کنترل‌کننده POX است. h1 ترافیک عادی و پرنرخ را تولید می‌کند، h2 مقصد است و h3 یک منبع عادی مستقل برای ایجاد تنوع در ترافیک به شمار می‌رود.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برای سبک ماندن روش، تنها سه ویژگی از شمارنده‌های جریان استفاده شد. StandardScaler اثر تفاوت مقیاس میان نرخ بسته، نرخ بایت و مدت جریان را کاهش می‌دهد تا فاصله اقلیدسی در DBSCAN معنا‌دارتر شود.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min_samples برابر 5 در نظر گرفته شد. منحنی فاصله همسایه پنجم، ناحیه شکست را نشان داد و سپس چند مقدار eps در محدوده 0.28 تا 0.46 بررسی شد. برای ارزیابی مستقل، eps برابر 0.28 انتخاب شد.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مجموعه اکتشافی شامل 96 نمونه بود: 60 نمونه عادی و 36 نمونه پرنرخ. در eps برابر 0.28، سی نمونه پرنرخ نویز و شش نمونه در خوشه مستقل قرار گرفتند. از eps برابر 0.31 به بعد، 28 نمونه در خوشه مستقل دیده شدند.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پروتکل جلوی نشت اطلاعات از داده آزمون به مدل را می‌گیرد. ابتدا فقط داده عادی کالیبراسیون وارد مدل می‌شود. سپس داده عادی جدید و ترافیک پرنرخ جدید جداگانه پیش‌بینی می‌شوند. برچسب‌ها فقط برای سنجش نهایی استفاده می‌شوند.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آزمایش تأییدی چهار بار تکرار شد. در هر تکرار سه مجموعه جدید جمع‌آوری شد. در مجموع 448 نمونه عادی و 448 نمونه پرنرخ برای آزمون داشتیم. پارامترهای مدل در این مرحله ثابت بودند.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سه تکرار 02، 03 و 05 نتیجه یکسان داشتند: F1 برابر 94.12 درصد و نرخ مثبت کاذب 12.5 درصد. اجرای 04 با هشت مثبت کاذب، بهترین نتیجه را ثبت کرد و F1 آن به 96.55 درصد رسید. Recall در هر چهار تکرار 100 درصد بود.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تجمیع چهار تکرار، 448 نمونه پرنرخ به‌درستی شناسایی شدند و هیچ منفی کاذبی وجود نداشت. از میان 448 نمونه عادی، 398 نمونه درست و 50 نمونه به‌صورت مثبت کاذب تشخیص داده شدند.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مجموع، دقت مثبت 89.96 درصد، بازخوانی 100 درصد، F1 برابر 94.71 درصد، ویژگی 88.84 درصد و صحت متوازن 94.42 درصد به دست آمد. نرخ مثبت کاذب 11.16 درصد بود.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خط قرمز آستانه eps برابر 0.28 را نشان می‌دهد. نقاط عادی عمدتاً زیر آستانه‌اند، اما چند مقدار دورافتاده ایجاد هشدار کاذب کرده‌اند. بررسی داده‌ها نشان داد 44 مورد نزدیک نرخ نیم بسته و شش مورد نزدیک نرخ یک و نیم بسته بر ثانیه قرار دارند؛ این موضوع با مرز پنجره‌های نمونه‌برداری سازگار است.</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پاسخ‌های فصل پنجم را به نتایج فصل چهارم متصل می‌کند. پاسخ‌ها نشان می‌دهند هدف اصلی تشخیص محقق شده است، ولی افزایش تعمیم‌پذیری و کاهش مثبت کاذب باید در کارهای آینده بررسی شود.</a:t>
            </a:r>
          </a:p>
          <a:p xmlns:a="http://schemas.openxmlformats.org/drawingml/2006/main">
            <a:r>
              <a:t/>
            </a:r>
          </a:p>
          <a:p xmlns:a="http://schemas.openxmlformats.org/drawingml/2006/main">
            <a:r>
              <a:t>منبع محتوایی: /home/parisa/thesis/documents/پایان نامه یکپارچه بازبینی شده پریسا اسدی.docx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نتیجه اصلی آزمایشگاه و اعتبارسنجی خارجی دو نقش متفاوت دارند. آزمایش Mininet عملکرد روش را در سناریوی کنترل‌شده نشان می‌دهد. آزمون InSDN تعمیم روش را روی جریان‌های متنوع‌تر بررسی می‌کند. مدل دو‌نما بدون Protocol و بدون استفاده از برچسب حمله در کالیبراسیون ارزیابی شد.</a:t>
            </a:r>
          </a:p>
          <a:p xmlns:a="http://schemas.openxmlformats.org/drawingml/2006/main">
            <a:r>
              <a:t/>
            </a:r>
          </a:p>
          <a:p xmlns:a="http://schemas.openxmlformats.org/drawingml/2006/main">
            <a:r>
              <a:t>منبع داده: https://aseados.ucd.ie/datasets/SDN/</a:t>
            </a:r>
          </a:p>
          <a:p xmlns:a="http://schemas.openxmlformats.org/drawingml/2006/main">
            <a:r>
              <a:t>منبع مقاله: https://doi.org/10.1109/ACCESS.2020.3022633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جمع‌بندی، آزمایش Mininet عملکرد مناسب روش را در سناریوی کنترل‌شده نشان داد. ارزیابی پنج‌باره InSDN نیز نشان داد اجتماع دو DBSCAN مکمل می‌تواند پوشش حملات متنوع‌تر را افزایش دهد. این نتیجه تکمیلی است و جایگزین نتایج اصلی آزمایشگاه نیست. از توجه شما سپاسگزارم و آماده پاسخ‌گویی به پرسش‌ها هستم.</a:t>
            </a:r>
          </a:p>
          <a:p xmlns:a="http://schemas.openxmlformats.org/drawingml/2006/main">
            <a:r>
              <a:t/>
            </a:r>
          </a:p>
          <a:p xmlns:a="http://schemas.openxmlformats.org/drawingml/2006/main">
            <a:r>
              <a:t>منبع داده: https://aseados.ucd.ie/datasets/SDN/</a:t>
            </a:r>
          </a:p>
          <a:p xmlns:a="http://schemas.openxmlformats.org/drawingml/2006/main">
            <a:r>
              <a:t>منبع مقاله: https://doi.org/10.1109/ACCESS.2020.3022633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c33d05104349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86738a51064a08" /><Relationship Type="http://schemas.openxmlformats.org/officeDocument/2006/relationships/slideLayout" Target="/ppt/slideLayouts/slideLayout1.xml" Id="R347d5993d88b4e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7d5993d88b4e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8eb5479d234bd9" /><Relationship Type="http://schemas.openxmlformats.org/officeDocument/2006/relationships/image" Target="/ppt/media/image.jpeg" Id="R50e2553d0e964d6b" /><Relationship Type="http://schemas.openxmlformats.org/officeDocument/2006/relationships/notesSlide" Target="/ppt/notesSlides/notesSlide1.xml" Id="R81d8bb6748e347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09f050b4994f36" /><Relationship Type="http://schemas.openxmlformats.org/officeDocument/2006/relationships/notesSlide" Target="/ppt/notesSlides/notesSlide2.xml" Id="Rcf323e89dca74a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fb423ab6c14da7" /><Relationship Type="http://schemas.openxmlformats.org/officeDocument/2006/relationships/notesSlide" Target="/ppt/notesSlides/notesSlide3.xml" Id="R6485243d1b964c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a25f037fd44ec1" /><Relationship Type="http://schemas.openxmlformats.org/officeDocument/2006/relationships/notesSlide" Target="/ppt/notesSlides/notesSlide4.xml" Id="R0676d921a64d4d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e0444eff5e49f3" /><Relationship Type="http://schemas.openxmlformats.org/officeDocument/2006/relationships/notesSlide" Target="/ppt/notesSlides/notesSlide5.xml" Id="Raf22af60572f45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b3f43398a64648" /><Relationship Type="http://schemas.openxmlformats.org/officeDocument/2006/relationships/image" Target="/ppt/media/image.png" Id="R4d0b948e69954d06" /><Relationship Type="http://schemas.openxmlformats.org/officeDocument/2006/relationships/notesSlide" Target="/ppt/notesSlides/notesSlide6.xml" Id="R2583400874c749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4b84108f484d29" /><Relationship Type="http://schemas.openxmlformats.org/officeDocument/2006/relationships/notesSlide" Target="/ppt/notesSlides/notesSlide7.xml" Id="R328df7f94bdd40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e38938d62a4439" /><Relationship Type="http://schemas.openxmlformats.org/officeDocument/2006/relationships/notesSlide" Target="/ppt/notesSlides/notesSlide8.xml" Id="R3de39d99f81f46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7375ceed4c477d" /><Relationship Type="http://schemas.openxmlformats.org/officeDocument/2006/relationships/image" Target="/ppt/media/image2.png" Id="R4b939d3314ba42bb" /><Relationship Type="http://schemas.openxmlformats.org/officeDocument/2006/relationships/notesSlide" Target="/ppt/notesSlides/notesSlide9.xml" Id="Rf7bab865c0f94c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8e527f75114d66" /><Relationship Type="http://schemas.openxmlformats.org/officeDocument/2006/relationships/chart" Target="/ppt/slides/charts/chart1.xml" Id="Rbfc68aeaee764cb0" /><Relationship Type="http://schemas.openxmlformats.org/officeDocument/2006/relationships/notesSlide" Target="/ppt/notesSlides/notesSlide10.xml" Id="R5d99e8c7bae74e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2c75189c824379" /><Relationship Type="http://schemas.openxmlformats.org/officeDocument/2006/relationships/notesSlide" Target="/ppt/notesSlides/notesSlide11.xml" Id="R94bb2d81b1a14a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ac36c43be84191" /><Relationship Type="http://schemas.openxmlformats.org/officeDocument/2006/relationships/notesSlide" Target="/ppt/notesSlides/notesSlide12.xml" Id="R78f3b8efe55445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9410995ef84cce" /><Relationship Type="http://schemas.openxmlformats.org/officeDocument/2006/relationships/chart" Target="/ppt/slides/charts/chart2.xml" Id="R1c2a0de5434545e8" /><Relationship Type="http://schemas.openxmlformats.org/officeDocument/2006/relationships/notesSlide" Target="/ppt/notesSlides/notesSlide13.xml" Id="R84e02f83f16b42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6d9dc60c8924e9b" /><Relationship Type="http://schemas.openxmlformats.org/officeDocument/2006/relationships/notesSlide" Target="/ppt/notesSlides/notesSlide14.xml" Id="R8c94a8f1918f48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c224ecd6b14fc5" /><Relationship Type="http://schemas.openxmlformats.org/officeDocument/2006/relationships/chart" Target="/ppt/slides/charts/chart3.xml" Id="R6c10acb9bd364265" /><Relationship Type="http://schemas.openxmlformats.org/officeDocument/2006/relationships/notesSlide" Target="/ppt/notesSlides/notesSlide15.xml" Id="R307120831cce4a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19c43023e545fa" /><Relationship Type="http://schemas.openxmlformats.org/officeDocument/2006/relationships/image" Target="/ppt/media/image3.png" Id="R4bc8aef75cd442ea" /><Relationship Type="http://schemas.openxmlformats.org/officeDocument/2006/relationships/notesSlide" Target="/ppt/notesSlides/notesSlide16.xml" Id="R8934ce4baef24b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f94bf119d144f1e" /><Relationship Type="http://schemas.openxmlformats.org/officeDocument/2006/relationships/notesSlide" Target="/ppt/notesSlides/notesSlide17.xml" Id="Rd9ef93abd7a945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af4be70c4f4697" /><Relationship Type="http://schemas.openxmlformats.org/officeDocument/2006/relationships/notesSlide" Target="/ppt/notesSlides/notesSlide18.xml" Id="R53033d74194246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e9e1b779c5347b3" /><Relationship Type="http://schemas.openxmlformats.org/officeDocument/2006/relationships/notesSlide" Target="/ppt/notesSlides/notesSlide19.xml" Id="Rf5608cfda8a54863" /></Relationships>
</file>

<file path=ppt/slides/charts/chart1.xml><?xml version="1.0" encoding="utf-8"?>
<c:chartSpace xmlns:c="http://schemas.openxmlformats.org/drawingml/2006/chart">
  <c:lang val="en-US"/>
  <c:chart>
    <c:plotArea>
      <c:barChart>
        <c:barDir val="col"/>
        <c:grouping val="stacked"/>
        <c:varyColors val="0"/>
        <c:ser>
          <c:idx val="0"/>
          <c:order val="0"/>
          <c:tx>
            <c:v>نویز</c:v>
          </c:tx>
          <c:spPr>
            <a:solidFill xmlns:a="http://schemas.openxmlformats.org/drawingml/2006/main">
              <a:srgbClr val="D97706"/>
            </a:solidFill>
          </c:spPr>
          <c:cat>
            <c:numLit>
              <c:formatCode>General</c:formatCode>
              <c:ptCount val="6"/>
              <c:pt idx="0">
                <c:v>0.28</c:v>
              </c:pt>
              <c:pt idx="1">
                <c:v>0.31</c:v>
              </c:pt>
              <c:pt idx="2">
                <c:v>0.35</c:v>
              </c:pt>
              <c:pt idx="3">
                <c:v>0.40</c:v>
              </c:pt>
              <c:pt idx="4">
                <c:v>0.43</c:v>
              </c:pt>
              <c:pt idx="5">
                <c:v>0.46</c:v>
              </c:pt>
            </c:numLit>
          </c:cat>
          <c:val>
            <c:numLit>
              <c:formatCode>General</c:formatCode>
              <c:ptCount val="6"/>
              <c:pt idx="0">
                <c:v>30</c:v>
              </c:pt>
              <c:pt idx="1">
                <c:v>8</c:v>
              </c:pt>
              <c:pt idx="2">
                <c:v>8</c:v>
              </c:pt>
              <c:pt idx="3">
                <c:v>6</c:v>
              </c:pt>
              <c:pt idx="4">
                <c:v>6</c:v>
              </c:pt>
              <c:pt idx="5">
                <c:v>6</c:v>
              </c:pt>
            </c:numLit>
          </c:val>
        </c:ser>
        <c:ser>
          <c:idx val="1"/>
          <c:order val="1"/>
          <c:tx>
            <c:v>خوشه مستقل</c:v>
          </c:tx>
          <c:spPr>
            <a:solidFill xmlns:a="http://schemas.openxmlformats.org/drawingml/2006/main">
              <a:srgbClr val="0F766E"/>
            </a:solidFill>
          </c:spPr>
          <c:cat>
            <c:numLit>
              <c:formatCode>General</c:formatCode>
              <c:ptCount val="6"/>
              <c:pt idx="0">
                <c:v>0.28</c:v>
              </c:pt>
              <c:pt idx="1">
                <c:v>0.31</c:v>
              </c:pt>
              <c:pt idx="2">
                <c:v>0.35</c:v>
              </c:pt>
              <c:pt idx="3">
                <c:v>0.40</c:v>
              </c:pt>
              <c:pt idx="4">
                <c:v>0.43</c:v>
              </c:pt>
              <c:pt idx="5">
                <c:v>0.46</c:v>
              </c:pt>
            </c:numLit>
          </c:cat>
          <c:val>
            <c:numLit>
              <c:formatCode>General</c:formatCode>
              <c:ptCount val="6"/>
              <c:pt idx="0">
                <c:v>6</c:v>
              </c:pt>
              <c:pt idx="1">
                <c:v>28</c:v>
              </c:pt>
              <c:pt idx="2">
                <c:v>28</c:v>
              </c:pt>
              <c:pt idx="3">
                <c:v>28</c:v>
              </c:pt>
              <c:pt idx="4">
                <c:v>28</c:v>
              </c:pt>
              <c:pt idx="5">
                <c:v>28</c:v>
              </c:pt>
            </c:numLit>
          </c:val>
        </c:ser>
        <c:ser>
          <c:idx val="2"/>
          <c:order val="2"/>
          <c:tx>
            <c:v>پیوسته به خوشه عادی</c:v>
          </c:tx>
          <c:spPr>
            <a:solidFill xmlns:a="http://schemas.openxmlformats.org/drawingml/2006/main">
              <a:srgbClr val="B64242"/>
            </a:solidFill>
          </c:spPr>
          <c:cat>
            <c:numLit>
              <c:formatCode>General</c:formatCode>
              <c:ptCount val="6"/>
              <c:pt idx="0">
                <c:v>0.28</c:v>
              </c:pt>
              <c:pt idx="1">
                <c:v>0.31</c:v>
              </c:pt>
              <c:pt idx="2">
                <c:v>0.35</c:v>
              </c:pt>
              <c:pt idx="3">
                <c:v>0.40</c:v>
              </c:pt>
              <c:pt idx="4">
                <c:v>0.43</c:v>
              </c:pt>
              <c:pt idx="5">
                <c:v>0.46</c:v>
              </c:pt>
            </c:numLit>
          </c:cat>
          <c:val>
            <c:numLit>
              <c:formatCode>General</c:formatCode>
              <c:ptCount val="6"/>
              <c:pt idx="0">
                <c:v>0</c:v>
              </c:pt>
              <c:pt idx="1">
                <c:v>0</c:v>
              </c:pt>
              <c:pt idx="2">
                <c:v>0</c:v>
              </c:pt>
              <c:pt idx="3">
                <c:v>2</c:v>
              </c:pt>
              <c:pt idx="4">
                <c:v>2</c:v>
              </c:pt>
              <c:pt idx="5">
                <c:v>2</c:v>
              </c:pt>
            </c:numLit>
          </c:val>
        </c:ser>
        <c:dLbls>
          <c:txPr>
            <a:bodyPr xmlns:a="http://schemas.openxmlformats.org/drawingml/2006/main" anchorCtr="1"/>
            <a:lstStyle xmlns:a="http://schemas.openxmlformats.org/drawingml/2006/main"/>
            <a:p xmlns:a="http://schemas.openxmlformats.org/drawingml/2006/main">
              <a:pPr>
                <a:defRPr sz="1050" b="1">
                  <a:solidFill>
                    <a:srgbClr val="FFFFFF"/>
                  </a:solidFill>
                  <a:latin typeface="Noto Sans Arabic"/>
                  <a:ea typeface="Noto Sans Arabic"/>
                  <a:cs typeface="Noto Sans Arabic"/>
                </a:defRPr>
              </a:pPr>
            </a:p>
          </c:txPr>
          <c:dLblPos val="ctr"/>
          <c:showLegendKey val="0"/>
          <c:showVal val="1"/>
          <c:showCatName val="0"/>
          <c:showSerName val="0"/>
          <c:showPercent val="0"/>
          <c:showBubbleSize val="0"/>
          <c:showLeaderLines val="0"/>
        </c:dLbls>
        <c:gapWidth val="38"/>
        <c:overlap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Noto Sans Arabic"/>
                    <a:ea typeface="Noto Sans Arabic"/>
                    <a:cs typeface="Noto Sans Arabic"/>
                  </a:rPr>
                  <a:t>eps</a:t>
                </a:r>
              </a:p>
            </c:rich>
          </c:tx>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title>
        <c:numFmt formatCode="General"/>
        <c:majorTickMark val="none"/>
        <c:minorTickMark val="none"/>
        <c:spPr>
          <a:ln xmlns:a="http://schemas.openxmlformats.org/drawingml/2006/main" w="9525">
            <a:solidFill>
              <a:srgbClr val="C9D8E6"/>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06D"/>
                </a:solidFill>
                <a:latin typeface="Noto Sans Arabic"/>
                <a:ea typeface="Noto Sans Arabic"/>
                <a:cs typeface="Noto Sans Arabic"/>
              </a:defRPr>
            </a:pPr>
          </a:p>
        </c:txPr>
        <c:crossAx val="48672768"/>
      </c:catAx>
      <c:valAx>
        <c:axId val="48672768"/>
        <c:scaling>
          <c:orientation val="minMax"/>
          <c:max val="40"/>
          <c:min val="0"/>
        </c:scaling>
        <c:delete val="0"/>
        <c:axPos val="l"/>
        <c:majorGridlines>
          <c:spPr>
            <a:ln xmlns:a="http://schemas.openxmlformats.org/drawingml/2006/main" w="9525">
              <a:solidFill>
                <a:srgbClr val="DDE6EE"/>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Arabic"/>
                    <a:ea typeface="Noto Sans Arabic"/>
                    <a:cs typeface="Noto Sans Arabic"/>
                  </a:rPr>
                  <a:t>تعداد نمونه</a:t>
                </a:r>
              </a:p>
            </c:rich>
          </c:tx>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06D"/>
                </a:solidFill>
                <a:latin typeface="Noto Sans Arabic"/>
                <a:ea typeface="Noto Sans Arabic"/>
                <a:cs typeface="Noto Sans Arabic"/>
              </a:defRPr>
            </a:pPr>
          </a:p>
        </c:txPr>
        <c:crossAx val="48650112"/>
        <c:crossBetween val="between"/>
        <c:majorUnit val="10"/>
      </c:valAx>
      <c:spPr>
        <a:solidFill xmlns:a="http://schemas.openxmlformats.org/drawingml/2006/main">
          <a:srgbClr val="FFFFFF"/>
        </a:solidFill>
        <a:ln xmlns:a="http://schemas.openxmlformats.org/drawingml/2006/main" w="9525">
          <a:solidFill>
            <a:srgbClr val="C9D8E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legend>
    <c:plotVisOnly val="1"/>
  </c:chart>
  <c:spPr>
    <a:solidFill xmlns:a="http://schemas.openxmlformats.org/drawingml/2006/main">
      <a:srgbClr val="F8FAFC"/>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F1</c:v>
          </c:tx>
          <c:spPr>
            <a:solidFill xmlns:a="http://schemas.openxmlformats.org/drawingml/2006/main">
              <a:srgbClr val="163F63"/>
            </a:solidFill>
          </c:spPr>
          <c:cat>
            <c:strLit>
              <c:ptCount val="4"/>
              <c:pt idx="0">
                <c:v>اجرای ۰۲</c:v>
              </c:pt>
              <c:pt idx="1">
                <c:v>اجرای ۰۳</c:v>
              </c:pt>
              <c:pt idx="2">
                <c:v>اجرای ۰۴</c:v>
              </c:pt>
              <c:pt idx="3">
                <c:v>اجرای ۰۵</c:v>
              </c:pt>
            </c:strLit>
          </c:cat>
          <c:val>
            <c:numLit>
              <c:formatCode>0.0</c:formatCode>
              <c:ptCount val="4"/>
              <c:pt idx="0">
                <c:v>94.12</c:v>
              </c:pt>
              <c:pt idx="1">
                <c:v>94.12</c:v>
              </c:pt>
              <c:pt idx="2">
                <c:v>96.55</c:v>
              </c:pt>
              <c:pt idx="3">
                <c:v>94.12</c:v>
              </c:pt>
            </c:numLit>
          </c:val>
        </c:ser>
        <c:ser>
          <c:idx val="1"/>
          <c:order val="1"/>
          <c:tx>
            <c:v>صحت متوازن</c:v>
          </c:tx>
          <c:spPr>
            <a:solidFill xmlns:a="http://schemas.openxmlformats.org/drawingml/2006/main">
              <a:srgbClr val="0F766E"/>
            </a:solidFill>
          </c:spPr>
          <c:cat>
            <c:strLit>
              <c:ptCount val="4"/>
              <c:pt idx="0">
                <c:v>اجرای ۰۲</c:v>
              </c:pt>
              <c:pt idx="1">
                <c:v>اجرای ۰۳</c:v>
              </c:pt>
              <c:pt idx="2">
                <c:v>اجرای ۰۴</c:v>
              </c:pt>
              <c:pt idx="3">
                <c:v>اجرای ۰۵</c:v>
              </c:pt>
            </c:strLit>
          </c:cat>
          <c:val>
            <c:numLit>
              <c:formatCode>0.0</c:formatCode>
              <c:ptCount val="4"/>
              <c:pt idx="0">
                <c:v>93.75</c:v>
              </c:pt>
              <c:pt idx="1">
                <c:v>93.75</c:v>
              </c:pt>
              <c:pt idx="2">
                <c:v>96.43</c:v>
              </c:pt>
              <c:pt idx="3">
                <c:v>93.75</c:v>
              </c:pt>
            </c:numLit>
          </c:val>
        </c:ser>
        <c:ser>
          <c:idx val="2"/>
          <c:order val="2"/>
          <c:tx>
            <c:v>نرخ مثبت کاذب</c:v>
          </c:tx>
          <c:spPr>
            <a:solidFill xmlns:a="http://schemas.openxmlformats.org/drawingml/2006/main">
              <a:srgbClr val="D97706"/>
            </a:solidFill>
          </c:spPr>
          <c:cat>
            <c:strLit>
              <c:ptCount val="4"/>
              <c:pt idx="0">
                <c:v>اجرای ۰۲</c:v>
              </c:pt>
              <c:pt idx="1">
                <c:v>اجرای ۰۳</c:v>
              </c:pt>
              <c:pt idx="2">
                <c:v>اجرای ۰۴</c:v>
              </c:pt>
              <c:pt idx="3">
                <c:v>اجرای ۰۵</c:v>
              </c:pt>
            </c:strLit>
          </c:cat>
          <c:val>
            <c:numLit>
              <c:formatCode>0.0</c:formatCode>
              <c:ptCount val="4"/>
              <c:pt idx="0">
                <c:v>12.5</c:v>
              </c:pt>
              <c:pt idx="1">
                <c:v>12.5</c:v>
              </c:pt>
              <c:pt idx="2">
                <c:v>7.14</c:v>
              </c:pt>
              <c:pt idx="3">
                <c:v>12.5</c:v>
              </c:pt>
            </c:numLit>
          </c:val>
        </c:ser>
        <c:dLbls>
          <c:txPr>
            <a:bodyPr xmlns:a="http://schemas.openxmlformats.org/drawingml/2006/main" anchorCtr="1"/>
            <a:lstStyle xmlns:a="http://schemas.openxmlformats.org/drawingml/2006/main"/>
            <a:p xmlns:a="http://schemas.openxmlformats.org/drawingml/2006/main">
              <a:pPr>
                <a:defRPr sz="900" b="1">
                  <a:solidFill>
                    <a:srgbClr val="17202A"/>
                  </a:solidFill>
                  <a:latin typeface="Noto Sans Arabic"/>
                  <a:ea typeface="Noto Sans Arabic"/>
                  <a:cs typeface="Noto Sans Arab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8E6"/>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6D"/>
                </a:solidFill>
                <a:latin typeface="Noto Sans Arabic"/>
                <a:ea typeface="Noto Sans Arabic"/>
                <a:cs typeface="Noto Sans Arabic"/>
              </a:defRPr>
            </a:pPr>
          </a:p>
        </c:txPr>
        <c:crossAx val="48672768"/>
      </c:catAx>
      <c:valAx>
        <c:axId val="48672768"/>
        <c:scaling>
          <c:orientation val="minMax"/>
          <c:max val="110"/>
          <c:min val="0"/>
        </c:scaling>
        <c:delete val="0"/>
        <c:axPos val="l"/>
        <c:majorGridlines>
          <c:spPr>
            <a:ln xmlns:a="http://schemas.openxmlformats.org/drawingml/2006/main" w="9525">
              <a:solidFill>
                <a:srgbClr val="DDE6EE"/>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Arabic"/>
                    <a:ea typeface="Noto Sans Arabic"/>
                    <a:cs typeface="Noto Sans Arabic"/>
                  </a:rPr>
                  <a:t>درصد</a:t>
                </a:r>
              </a:p>
            </c:rich>
          </c:tx>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06D"/>
                </a:solidFill>
                <a:latin typeface="Noto Sans Arabic"/>
                <a:ea typeface="Noto Sans Arabic"/>
                <a:cs typeface="Noto Sans Arabic"/>
              </a:defRPr>
            </a:pPr>
          </a:p>
        </c:txPr>
        <c:crossAx val="48650112"/>
        <c:crossBetween val="between"/>
        <c:majorUnit val="20"/>
      </c:valAx>
      <c:spPr>
        <a:solidFill xmlns:a="http://schemas.openxmlformats.org/drawingml/2006/main">
          <a:srgbClr val="FFFFFF"/>
        </a:solidFill>
        <a:ln xmlns:a="http://schemas.openxmlformats.org/drawingml/2006/main" w="9525">
          <a:solidFill>
            <a:srgbClr val="C9D8E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legend>
    <c:plotVisOnly val="1"/>
  </c:chart>
  <c:spPr>
    <a:solidFill xmlns:a="http://schemas.openxmlformats.org/drawingml/2006/main">
      <a:srgbClr val="F8FAFC"/>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درصد</c:v>
          </c:tx>
          <c:spPr>
            <a:solidFill xmlns:a="http://schemas.openxmlformats.org/drawingml/2006/main">
              <a:srgbClr val="0F766E"/>
            </a:solidFill>
          </c:spPr>
          <c:dPt>
            <c:idx val="0"/>
            <c:invertIfNegative val="0"/>
            <c:spPr>
              <a:solidFill xmlns:a="http://schemas.openxmlformats.org/drawingml/2006/main">
                <a:srgbClr val="2B6A97"/>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163F63"/>
              </a:solidFill>
            </c:spPr>
          </c:dPt>
          <c:dPt>
            <c:idx val="3"/>
            <c:invertIfNegative val="0"/>
            <c:spPr>
              <a:solidFill xmlns:a="http://schemas.openxmlformats.org/drawingml/2006/main">
                <a:srgbClr val="D97706"/>
              </a:solidFill>
            </c:spPr>
          </c:dPt>
          <c:dPt>
            <c:idx val="4"/>
            <c:invertIfNegative val="0"/>
            <c:spPr>
              <a:solidFill xmlns:a="http://schemas.openxmlformats.org/drawingml/2006/main">
                <a:srgbClr val="496F5D"/>
              </a:solidFill>
            </c:spPr>
          </c:dPt>
          <c:cat>
            <c:strLit>
              <c:ptCount val="5"/>
              <c:pt idx="0">
                <c:v>دقت مثبت</c:v>
              </c:pt>
              <c:pt idx="1">
                <c:v>بازخوانی</c:v>
              </c:pt>
              <c:pt idx="2">
                <c:v>F1</c:v>
              </c:pt>
              <c:pt idx="3">
                <c:v>ویژگی</c:v>
              </c:pt>
              <c:pt idx="4">
                <c:v>صحت متوازن</c:v>
              </c:pt>
            </c:strLit>
          </c:cat>
          <c:val>
            <c:numLit>
              <c:formatCode>0.0</c:formatCode>
              <c:ptCount val="5"/>
              <c:pt idx="0">
                <c:v>89.96</c:v>
              </c:pt>
              <c:pt idx="1">
                <c:v>100</c:v>
              </c:pt>
              <c:pt idx="2">
                <c:v>94.71</c:v>
              </c:pt>
              <c:pt idx="3">
                <c:v>88.84</c:v>
              </c:pt>
              <c:pt idx="4">
                <c:v>94.42</c:v>
              </c:pt>
            </c:numLit>
          </c:val>
        </c:ser>
        <c:dLbls>
          <c:txPr>
            <a:bodyPr xmlns:a="http://schemas.openxmlformats.org/drawingml/2006/main" anchorCtr="1"/>
            <a:lstStyle xmlns:a="http://schemas.openxmlformats.org/drawingml/2006/main"/>
            <a:p xmlns:a="http://schemas.openxmlformats.org/drawingml/2006/main">
              <a:pPr>
                <a:defRPr sz="1125" b="1">
                  <a:solidFill>
                    <a:srgbClr val="17202A"/>
                  </a:solidFill>
                  <a:latin typeface="Noto Sans Arabic"/>
                  <a:ea typeface="Noto Sans Arabic"/>
                  <a:cs typeface="Noto Sans Arabic"/>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8E6"/>
            </a:solidFill>
            <a:prstDash val="solid"/>
          </a:ln>
        </c:spPr>
        <c:txPr>
          <a:bodyPr xmlns:a="http://schemas.openxmlformats.org/drawingml/2006/main" anchorCtr="1"/>
          <a:lstStyle xmlns:a="http://schemas.openxmlformats.org/drawingml/2006/main"/>
          <a:p xmlns:a="http://schemas.openxmlformats.org/drawingml/2006/main">
            <a:pPr>
              <a:defRPr sz="1200">
                <a:solidFill>
                  <a:srgbClr val="17202A"/>
                </a:solidFill>
                <a:latin typeface="Noto Sans Arabic"/>
                <a:ea typeface="Noto Sans Arabic"/>
                <a:cs typeface="Noto Sans Arabic"/>
              </a:defRPr>
            </a:pPr>
          </a:p>
        </c:txPr>
        <c:crossAx val="48672768"/>
      </c:catAx>
      <c:valAx>
        <c:axId val="48672768"/>
        <c:scaling>
          <c:orientation val="minMax"/>
          <c:max val="110"/>
          <c:min val="0"/>
        </c:scaling>
        <c:delete val="0"/>
        <c:axPos val="l"/>
        <c:majorGridlines>
          <c:spPr>
            <a:ln xmlns:a="http://schemas.openxmlformats.org/drawingml/2006/main" w="9525">
              <a:solidFill>
                <a:srgbClr val="DDE6EE"/>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Arabic"/>
                    <a:ea typeface="Noto Sans Arabic"/>
                    <a:cs typeface="Noto Sans Arabic"/>
                  </a:rPr>
                  <a:t>درصد</a:t>
                </a:r>
              </a:p>
            </c:rich>
          </c:tx>
          <c:overlay val="0"/>
          <c:txPr>
            <a:bodyPr xmlns:a="http://schemas.openxmlformats.org/drawingml/2006/main" anchorCtr="1"/>
            <a:lstStyle xmlns:a="http://schemas.openxmlformats.org/drawingml/2006/main"/>
            <a:p xmlns:a="http://schemas.openxmlformats.org/drawingml/2006/main">
              <a:pPr>
                <a:defRPr>
                  <a:latin typeface="Noto Sans Arabic"/>
                  <a:ea typeface="Noto Sans Arabic"/>
                  <a:cs typeface="Noto Sans Arab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06D"/>
                </a:solidFill>
                <a:latin typeface="Noto Sans Arabic"/>
                <a:ea typeface="Noto Sans Arabic"/>
                <a:cs typeface="Noto Sans Arabic"/>
              </a:defRPr>
            </a:pPr>
          </a:p>
        </c:txPr>
        <c:crossAx val="48650112"/>
        <c:crossBetween val="between"/>
        <c:majorUnit val="20"/>
      </c:valAx>
      <c:spPr>
        <a:solidFill xmlns:a="http://schemas.openxmlformats.org/drawingml/2006/main">
          <a:srgbClr val="FFFFFF"/>
        </a:solidFill>
        <a:ln xmlns:a="http://schemas.openxmlformats.org/drawingml/2006/main" w="9525">
          <a:solidFill>
            <a:srgbClr val="C9D8E6"/>
          </a:solidFill>
          <a:prstDash val="solid"/>
        </a:ln>
      </c:spPr>
    </c:plotArea>
    <c:plotVisOnly val="1"/>
  </c:chart>
  <c:spPr>
    <a:solidFill xmlns:a="http://schemas.openxmlformats.org/drawingml/2006/main">
      <a:srgbClr val="F8FAFC"/>
    </a:solidFill>
  </c:spPr>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EE3288-DAAC-41D0-B3A2-A7559AD6A49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C9913E-238B-404A-B64D-DADE47C3AB34}"/>
              </a:ext>
            </a:extLst>
          </p:cNvPr>
          <p:cNvSpPr>
            <a:spLocks xmlns:a="http://schemas.openxmlformats.org/drawingml/2006/main" noGrp="1"/>
          </p:cNvSpPr>
          <p:nvPr/>
        </p:nvSpPr>
        <p:spPr>
          <a:xfrm xmlns:a="http://schemas.openxmlformats.org/drawingml/2006/main">
            <a:off x="0" y="171450"/>
            <a:ext cx="12192000" cy="85725"/>
          </a:xfrm>
          <a:prstGeom xmlns:a="http://schemas.openxmlformats.org/drawingml/2006/main" prst="rect">
            <a:avLst/>
          </a:prstGeom>
          <a:solidFill xmlns:a="http://schemas.openxmlformats.org/drawingml/2006/main">
            <a:srgbClr val="163F63"/>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0e2553d0e964d6b"/>
          <a:stretch xmlns:a="http://schemas.openxmlformats.org/drawingml/2006/main"/>
        </p:blipFill>
        <p:spPr>
          <a:xfrm xmlns:a="http://schemas.openxmlformats.org/drawingml/2006/main">
            <a:off x="742950" y="648730"/>
            <a:ext cx="1476375" cy="177911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A099D2-0FC7-4A9E-9252-424290468FDA}"/>
              </a:ext>
            </a:extLst>
          </p:cNvPr>
          <p:cNvSpPr>
            <a:spLocks xmlns:a="http://schemas.openxmlformats.org/drawingml/2006/main" noGrp="1"/>
          </p:cNvSpPr>
          <p:nvPr/>
        </p:nvSpPr>
        <p:spPr>
          <a:xfrm xmlns:a="http://schemas.openxmlformats.org/drawingml/2006/main">
            <a:off x="2381250" y="62865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Kufi Arabic"/>
                <a:ea typeface="Noto Kufi Arabic"/>
                <a:cs typeface="Noto Kufi Arabic"/>
              </a:defRPr>
            </a:pPr>
            <a:r>
              <a:rPr sz="1875" b="1">
                <a:solidFill>
                  <a:srgbClr val="163F63"/>
                </a:solidFill>
                <a:latin typeface="Noto Kufi Arabic"/>
                <a:ea typeface="Noto Kufi Arabic"/>
                <a:cs typeface="Noto Kufi Arabic"/>
              </a:rPr>
              <a:t>‏دانشگاه صنعتی سجاد</a:t>
            </a:r>
          </a:p>
        </p:txBody>
      </p:sp>
      <p:sp>
        <p:nvSpPr>
          <p:cNvPr id="5" name="">
            <a:extLst xmlns:a="http://schemas.openxmlformats.org/drawingml/2006/main">
              <a:ext uri="{FF2B5EF4-FFF2-40B4-BE49-F238E27FC236}">
                <a16:creationId xmlns:a16="http://schemas.microsoft.com/office/drawing/2014/main" id="{CB75860F-8FEF-41D5-8F5C-F6CAD25A086E}"/>
              </a:ext>
            </a:extLst>
          </p:cNvPr>
          <p:cNvSpPr>
            <a:spLocks xmlns:a="http://schemas.openxmlformats.org/drawingml/2006/main" noGrp="1"/>
          </p:cNvSpPr>
          <p:nvPr/>
        </p:nvSpPr>
        <p:spPr>
          <a:xfrm xmlns:a="http://schemas.openxmlformats.org/drawingml/2006/main">
            <a:off x="2381250" y="10668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00" b="0">
                <a:solidFill>
                  <a:srgbClr val="52606D"/>
                </a:solidFill>
                <a:latin typeface="Noto Sans Arabic"/>
                <a:ea typeface="Noto Sans Arabic"/>
                <a:cs typeface="Noto Sans Arabic"/>
              </a:defRPr>
            </a:pPr>
            <a:r>
              <a:rPr sz="1500" b="0">
                <a:solidFill>
                  <a:srgbClr val="52606D"/>
                </a:solidFill>
                <a:latin typeface="Noto Sans Arabic"/>
                <a:ea typeface="Noto Sans Arabic"/>
                <a:cs typeface="Noto Sans Arabic"/>
              </a:rPr>
              <a:t>‏دانشکده مهندسی کامپیوتر و فناوری اطلاعات</a:t>
            </a:r>
          </a:p>
        </p:txBody>
      </p:sp>
      <p:sp>
        <p:nvSpPr>
          <p:cNvPr id="6" name="">
            <a:extLst xmlns:a="http://schemas.openxmlformats.org/drawingml/2006/main">
              <a:ext uri="{FF2B5EF4-FFF2-40B4-BE49-F238E27FC236}">
                <a16:creationId xmlns:a16="http://schemas.microsoft.com/office/drawing/2014/main" id="{B610346C-F972-4669-91A9-0E807305B420}"/>
              </a:ext>
            </a:extLst>
          </p:cNvPr>
          <p:cNvSpPr>
            <a:spLocks xmlns:a="http://schemas.openxmlformats.org/drawingml/2006/main" noGrp="1"/>
          </p:cNvSpPr>
          <p:nvPr/>
        </p:nvSpPr>
        <p:spPr>
          <a:xfrm xmlns:a="http://schemas.openxmlformats.org/drawingml/2006/main">
            <a:off x="2381250" y="1647825"/>
            <a:ext cx="85725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7" name="">
            <a:extLst xmlns:a="http://schemas.openxmlformats.org/drawingml/2006/main">
              <a:ext uri="{FF2B5EF4-FFF2-40B4-BE49-F238E27FC236}">
                <a16:creationId xmlns:a16="http://schemas.microsoft.com/office/drawing/2014/main" id="{D71DE5E4-4084-4F16-AC4C-5D6B540BE82E}"/>
              </a:ext>
            </a:extLst>
          </p:cNvPr>
          <p:cNvSpPr>
            <a:spLocks xmlns:a="http://schemas.openxmlformats.org/drawingml/2006/main" noGrp="1"/>
          </p:cNvSpPr>
          <p:nvPr/>
        </p:nvSpPr>
        <p:spPr>
          <a:xfrm xmlns:a="http://schemas.openxmlformats.org/drawingml/2006/main">
            <a:off x="1714500" y="2000250"/>
            <a:ext cx="923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lnSpc>
                <a:spcPct val="115000"/>
              </a:lnSpc>
              <a:buNone/>
              <a:defRPr sz="2775" b="1">
                <a:solidFill>
                  <a:srgbClr val="163F63"/>
                </a:solidFill>
                <a:latin typeface="Noto Kufi Arabic"/>
                <a:ea typeface="Noto Kufi Arabic"/>
                <a:cs typeface="Noto Kufi Arabic"/>
              </a:defRPr>
            </a:pPr>
            <a:r>
              <a:rPr sz="2775" b="1">
                <a:solidFill>
                  <a:srgbClr val="163F63"/>
                </a:solidFill>
                <a:latin typeface="Noto Kufi Arabic"/>
                <a:ea typeface="Noto Kufi Arabic"/>
                <a:cs typeface="Noto Kufi Arabic"/>
              </a:rPr>
              <a:t>‏ارائه یک روش تشخیص حملات DDoS در شبکه‌های SDN</a:t>
            </a:r>
          </a:p>
          <a:p xmlns:a="http://schemas.openxmlformats.org/drawingml/2006/main">
            <a:pPr algn="r">
              <a:lnSpc>
                <a:spcPct val="115000"/>
              </a:lnSpc>
              <a:buNone/>
              <a:defRPr sz="2775" b="1">
                <a:solidFill>
                  <a:srgbClr val="163F63"/>
                </a:solidFill>
                <a:latin typeface="Noto Kufi Arabic"/>
                <a:ea typeface="Noto Kufi Arabic"/>
                <a:cs typeface="Noto Kufi Arabic"/>
              </a:defRPr>
            </a:pPr>
            <a:r>
              <a:rPr sz="2775" b="1">
                <a:solidFill>
                  <a:srgbClr val="163F63"/>
                </a:solidFill>
                <a:latin typeface="Noto Kufi Arabic"/>
                <a:ea typeface="Noto Kufi Arabic"/>
                <a:cs typeface="Noto Kufi Arabic"/>
              </a:rPr>
              <a:t>با استفاده از الگوریتم خوشه‌بندی DBSCAN</a:t>
            </a:r>
          </a:p>
        </p:txBody>
      </p:sp>
      <p:sp>
        <p:nvSpPr>
          <p:cNvPr id="8" name="">
            <a:extLst xmlns:a="http://schemas.openxmlformats.org/drawingml/2006/main">
              <a:ext uri="{FF2B5EF4-FFF2-40B4-BE49-F238E27FC236}">
                <a16:creationId xmlns:a16="http://schemas.microsoft.com/office/drawing/2014/main" id="{9D5DDB56-8825-4A8D-81BD-49D71B2DE977}"/>
              </a:ext>
            </a:extLst>
          </p:cNvPr>
          <p:cNvSpPr>
            <a:spLocks xmlns:a="http://schemas.openxmlformats.org/drawingml/2006/main" noGrp="1"/>
          </p:cNvSpPr>
          <p:nvPr/>
        </p:nvSpPr>
        <p:spPr>
          <a:xfrm xmlns:a="http://schemas.openxmlformats.org/drawingml/2006/main">
            <a:off x="1714500" y="3619500"/>
            <a:ext cx="923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00" b="0">
                <a:solidFill>
                  <a:srgbClr val="0F766E"/>
                </a:solidFill>
                <a:latin typeface="Noto Sans Arabic"/>
                <a:ea typeface="Noto Sans Arabic"/>
                <a:cs typeface="Noto Sans Arabic"/>
              </a:defRPr>
            </a:pPr>
            <a:r>
              <a:rPr sz="1500" b="0">
                <a:solidFill>
                  <a:srgbClr val="0F766E"/>
                </a:solidFill>
                <a:latin typeface="Noto Sans Arabic"/>
                <a:ea typeface="Noto Sans Arabic"/>
                <a:cs typeface="Noto Sans Arabic"/>
              </a:rPr>
              <a:t>‏ارائه دفاع پایان‌نامه کارشناسی ارشد مهندسی کامپیوتر، گرایش شبکه‌های کامپیوتری</a:t>
            </a:r>
          </a:p>
        </p:txBody>
      </p:sp>
      <p:sp>
        <p:nvSpPr>
          <p:cNvPr id="9" name="">
            <a:extLst xmlns:a="http://schemas.openxmlformats.org/drawingml/2006/main">
              <a:ext uri="{FF2B5EF4-FFF2-40B4-BE49-F238E27FC236}">
                <a16:creationId xmlns:a16="http://schemas.microsoft.com/office/drawing/2014/main" id="{7969C32B-8352-487B-8496-842049715024}"/>
              </a:ext>
            </a:extLst>
          </p:cNvPr>
          <p:cNvSpPr>
            <a:spLocks xmlns:a="http://schemas.openxmlformats.org/drawingml/2006/main" noGrp="1"/>
          </p:cNvSpPr>
          <p:nvPr/>
        </p:nvSpPr>
        <p:spPr>
          <a:xfrm xmlns:a="http://schemas.openxmlformats.org/drawingml/2006/main">
            <a:off x="6858000" y="45529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00" b="1">
                <a:solidFill>
                  <a:srgbClr val="17202A"/>
                </a:solidFill>
                <a:latin typeface="Noto Sans Arabic"/>
                <a:ea typeface="Noto Sans Arabic"/>
                <a:cs typeface="Noto Sans Arabic"/>
              </a:defRPr>
            </a:pPr>
            <a:r>
              <a:rPr sz="1800" b="1">
                <a:solidFill>
                  <a:srgbClr val="17202A"/>
                </a:solidFill>
                <a:latin typeface="Noto Sans Arabic"/>
                <a:ea typeface="Noto Sans Arabic"/>
                <a:cs typeface="Noto Sans Arabic"/>
              </a:rPr>
              <a:t>‏دانشجو: پریسا اسدی</a:t>
            </a:r>
          </a:p>
        </p:txBody>
      </p:sp>
      <p:sp>
        <p:nvSpPr>
          <p:cNvPr id="10" name="">
            <a:extLst xmlns:a="http://schemas.openxmlformats.org/drawingml/2006/main">
              <a:ext uri="{FF2B5EF4-FFF2-40B4-BE49-F238E27FC236}">
                <a16:creationId xmlns:a16="http://schemas.microsoft.com/office/drawing/2014/main" id="{6758F720-DB9C-408E-BB6C-E542E4B49D6F}"/>
              </a:ext>
            </a:extLst>
          </p:cNvPr>
          <p:cNvSpPr>
            <a:spLocks xmlns:a="http://schemas.openxmlformats.org/drawingml/2006/main" noGrp="1"/>
          </p:cNvSpPr>
          <p:nvPr/>
        </p:nvSpPr>
        <p:spPr>
          <a:xfrm xmlns:a="http://schemas.openxmlformats.org/drawingml/2006/main">
            <a:off x="6191250" y="50101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725" b="0">
                <a:solidFill>
                  <a:srgbClr val="17202A"/>
                </a:solidFill>
                <a:latin typeface="Noto Sans Arabic"/>
                <a:ea typeface="Noto Sans Arabic"/>
                <a:cs typeface="Noto Sans Arabic"/>
              </a:defRPr>
            </a:pPr>
            <a:r>
              <a:rPr sz="1725" b="0">
                <a:solidFill>
                  <a:srgbClr val="17202A"/>
                </a:solidFill>
                <a:latin typeface="Noto Sans Arabic"/>
                <a:ea typeface="Noto Sans Arabic"/>
                <a:cs typeface="Noto Sans Arabic"/>
              </a:rPr>
              <a:t>‏استاد راهنما: دکتر جواد حمیدزاده</a:t>
            </a:r>
          </a:p>
        </p:txBody>
      </p:sp>
      <p:sp>
        <p:nvSpPr>
          <p:cNvPr id="11" name="">
            <a:extLst xmlns:a="http://schemas.openxmlformats.org/drawingml/2006/main">
              <a:ext uri="{FF2B5EF4-FFF2-40B4-BE49-F238E27FC236}">
                <a16:creationId xmlns:a16="http://schemas.microsoft.com/office/drawing/2014/main" id="{F5DD25DC-6B9A-4F0A-9387-D9E93EF7ACBD}"/>
              </a:ext>
            </a:extLst>
          </p:cNvPr>
          <p:cNvSpPr>
            <a:spLocks xmlns:a="http://schemas.openxmlformats.org/drawingml/2006/main" noGrp="1"/>
          </p:cNvSpPr>
          <p:nvPr/>
        </p:nvSpPr>
        <p:spPr>
          <a:xfrm xmlns:a="http://schemas.openxmlformats.org/drawingml/2006/main">
            <a:off x="7620000" y="56578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75" b="0">
                <a:solidFill>
                  <a:srgbClr val="52606D"/>
                </a:solidFill>
                <a:latin typeface="Noto Sans Arabic"/>
                <a:ea typeface="Noto Sans Arabic"/>
                <a:cs typeface="Noto Sans Arabic"/>
              </a:defRPr>
            </a:pPr>
            <a:r>
              <a:rPr sz="1575" b="0">
                <a:solidFill>
                  <a:srgbClr val="52606D"/>
                </a:solidFill>
                <a:latin typeface="Noto Sans Arabic"/>
                <a:ea typeface="Noto Sans Arabic"/>
                <a:cs typeface="Noto Sans Arabic"/>
              </a:rPr>
              <a:t>‏زمستان ۱۴۰۴</a:t>
            </a:r>
          </a:p>
        </p:txBody>
      </p:sp>
    </p:spTree>
    <p:extLst>
      <p:ext uri="{BB962C8B-B14F-4D97-AF65-F5344CB8AC3E}">
        <p14:creationId xmlns:p14="http://schemas.microsoft.com/office/powerpoint/2010/main" val="217835796"/>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5DACB5F-B1C3-474B-8404-B102D93BBBAC}"/>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844DF22E-0EC5-4F03-9506-A27F5426219C}"/>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CD42CE-10A3-40B9-A0A4-BEC1B776C3D8}"/>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‏مسیر ارائه</a:t>
            </a:r>
          </a:p>
        </p:txBody>
      </p:sp>
      <p:sp>
        <p:nvSpPr>
          <p:cNvPr id="4" name="">
            <a:extLst xmlns:a="http://schemas.openxmlformats.org/drawingml/2006/main">
              <a:ext uri="{FF2B5EF4-FFF2-40B4-BE49-F238E27FC236}">
                <a16:creationId xmlns:a16="http://schemas.microsoft.com/office/drawing/2014/main" id="{38C10D48-1509-40A1-98C4-5DF63F62395E}"/>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‏از تعریف مسئله تا نتیجه‌گیری</a:t>
            </a:r>
          </a:p>
        </p:txBody>
      </p:sp>
      <p:sp>
        <p:nvSpPr>
          <p:cNvPr id="5" name="">
            <a:extLst xmlns:a="http://schemas.openxmlformats.org/drawingml/2006/main">
              <a:ext uri="{FF2B5EF4-FFF2-40B4-BE49-F238E27FC236}">
                <a16:creationId xmlns:a16="http://schemas.microsoft.com/office/drawing/2014/main" id="{625CF500-9980-41F6-9059-A5F0816EFE69}"/>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02</a:t>
            </a:r>
          </a:p>
        </p:txBody>
      </p:sp>
      <p:sp>
        <p:nvSpPr>
          <p:cNvPr id="6" name="">
            <a:extLst xmlns:a="http://schemas.openxmlformats.org/drawingml/2006/main">
              <a:ext uri="{FF2B5EF4-FFF2-40B4-BE49-F238E27FC236}">
                <a16:creationId xmlns:a16="http://schemas.microsoft.com/office/drawing/2014/main" id="{9DDFA21C-5531-4AFD-A276-BC38DD176835}"/>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2EF7103D-8787-4A0A-9BB4-6D42A57BE428}"/>
              </a:ext>
            </a:extLst>
          </p:cNvPr>
          <p:cNvSpPr>
            <a:spLocks xmlns:a="http://schemas.openxmlformats.org/drawingml/2006/main" noGrp="1"/>
          </p:cNvSpPr>
          <p:nvPr/>
        </p:nvSpPr>
        <p:spPr>
          <a:xfrm xmlns:a="http://schemas.openxmlformats.org/drawingml/2006/main">
            <a:off x="10668000" y="1428750"/>
            <a:ext cx="628650" cy="552450"/>
          </a:xfrm>
          <a:prstGeom xmlns:a="http://schemas.openxmlformats.org/drawingml/2006/main" prst="roundRect">
            <a:avLst>
              <a:gd name="adj" fmla="val 31034"/>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۱</a:t>
            </a:r>
          </a:p>
        </p:txBody>
      </p:sp>
      <p:sp>
        <p:nvSpPr>
          <p:cNvPr id="8" name="">
            <a:extLst xmlns:a="http://schemas.openxmlformats.org/drawingml/2006/main">
              <a:ext uri="{FF2B5EF4-FFF2-40B4-BE49-F238E27FC236}">
                <a16:creationId xmlns:a16="http://schemas.microsoft.com/office/drawing/2014/main" id="{B5087FF9-0EC6-4825-80AD-16946FE934C2}"/>
              </a:ext>
            </a:extLst>
          </p:cNvPr>
          <p:cNvSpPr>
            <a:spLocks xmlns:a="http://schemas.openxmlformats.org/drawingml/2006/main" noGrp="1"/>
          </p:cNvSpPr>
          <p:nvPr/>
        </p:nvSpPr>
        <p:spPr>
          <a:xfrm xmlns:a="http://schemas.openxmlformats.org/drawingml/2006/main">
            <a:off x="6858000" y="14097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‏مسئله و ضرورت پژوهش</a:t>
            </a:r>
          </a:p>
        </p:txBody>
      </p:sp>
      <p:sp>
        <p:nvSpPr>
          <p:cNvPr id="9" name="">
            <a:extLst xmlns:a="http://schemas.openxmlformats.org/drawingml/2006/main">
              <a:ext uri="{FF2B5EF4-FFF2-40B4-BE49-F238E27FC236}">
                <a16:creationId xmlns:a16="http://schemas.microsoft.com/office/drawing/2014/main" id="{E4F529E6-C3E1-42E8-A772-4574956CFF92}"/>
              </a:ext>
            </a:extLst>
          </p:cNvPr>
          <p:cNvSpPr>
            <a:spLocks xmlns:a="http://schemas.openxmlformats.org/drawingml/2006/main" noGrp="1"/>
          </p:cNvSpPr>
          <p:nvPr/>
        </p:nvSpPr>
        <p:spPr>
          <a:xfrm xmlns:a="http://schemas.openxmlformats.org/drawingml/2006/main">
            <a:off x="1714500" y="1704975"/>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350" b="0">
                <a:solidFill>
                  <a:srgbClr val="52606D"/>
                </a:solidFill>
                <a:latin typeface="Noto Sans Arabic"/>
                <a:ea typeface="Noto Sans Arabic"/>
                <a:cs typeface="Noto Sans Arabic"/>
              </a:defRPr>
            </a:pPr>
            <a:r>
              <a:rPr sz="1350" b="0">
                <a:solidFill>
                  <a:srgbClr val="52606D"/>
                </a:solidFill>
                <a:latin typeface="Noto Sans Arabic"/>
                <a:ea typeface="Noto Sans Arabic"/>
                <a:cs typeface="Noto Sans Arabic"/>
              </a:rPr>
              <a:t>‏چرا تشخیص DDoS در SDN مهم است؟</a:t>
            </a:r>
          </a:p>
        </p:txBody>
      </p:sp>
      <p:sp>
        <p:nvSpPr>
          <p:cNvPr id="10" name="">
            <a:extLst xmlns:a="http://schemas.openxmlformats.org/drawingml/2006/main">
              <a:ext uri="{FF2B5EF4-FFF2-40B4-BE49-F238E27FC236}">
                <a16:creationId xmlns:a16="http://schemas.microsoft.com/office/drawing/2014/main" id="{4535B8AA-CA56-411F-8B36-451508D12B5D}"/>
              </a:ext>
            </a:extLst>
          </p:cNvPr>
          <p:cNvSpPr>
            <a:spLocks xmlns:a="http://schemas.openxmlformats.org/drawingml/2006/main" noGrp="1"/>
          </p:cNvSpPr>
          <p:nvPr/>
        </p:nvSpPr>
        <p:spPr>
          <a:xfrm xmlns:a="http://schemas.openxmlformats.org/drawingml/2006/main">
            <a:off x="10668000" y="2305050"/>
            <a:ext cx="628650" cy="552450"/>
          </a:xfrm>
          <a:prstGeom xmlns:a="http://schemas.openxmlformats.org/drawingml/2006/main" prst="roundRect">
            <a:avLst>
              <a:gd name="adj" fmla="val 31034"/>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۲</a:t>
            </a:r>
          </a:p>
        </p:txBody>
      </p:sp>
      <p:sp>
        <p:nvSpPr>
          <p:cNvPr id="11" name="">
            <a:extLst xmlns:a="http://schemas.openxmlformats.org/drawingml/2006/main">
              <a:ext uri="{FF2B5EF4-FFF2-40B4-BE49-F238E27FC236}">
                <a16:creationId xmlns:a16="http://schemas.microsoft.com/office/drawing/2014/main" id="{DFA398FE-5088-4E76-B7C1-87476B248311}"/>
              </a:ext>
            </a:extLst>
          </p:cNvPr>
          <p:cNvSpPr>
            <a:spLocks xmlns:a="http://schemas.openxmlformats.org/drawingml/2006/main" noGrp="1"/>
          </p:cNvSpPr>
          <p:nvPr/>
        </p:nvSpPr>
        <p:spPr>
          <a:xfrm xmlns:a="http://schemas.openxmlformats.org/drawingml/2006/main">
            <a:off x="6858000" y="22860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‏روش پیشنهادی</a:t>
            </a:r>
          </a:p>
        </p:txBody>
      </p:sp>
      <p:sp>
        <p:nvSpPr>
          <p:cNvPr id="12" name="">
            <a:extLst xmlns:a="http://schemas.openxmlformats.org/drawingml/2006/main">
              <a:ext uri="{FF2B5EF4-FFF2-40B4-BE49-F238E27FC236}">
                <a16:creationId xmlns:a16="http://schemas.microsoft.com/office/drawing/2014/main" id="{797DEDEA-7B5B-46F5-B72C-9A3E11815D74}"/>
              </a:ext>
            </a:extLst>
          </p:cNvPr>
          <p:cNvSpPr>
            <a:spLocks xmlns:a="http://schemas.openxmlformats.org/drawingml/2006/main" noGrp="1"/>
          </p:cNvSpPr>
          <p:nvPr/>
        </p:nvSpPr>
        <p:spPr>
          <a:xfrm xmlns:a="http://schemas.openxmlformats.org/drawingml/2006/main">
            <a:off x="1714500" y="2581275"/>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350" b="0">
                <a:solidFill>
                  <a:srgbClr val="52606D"/>
                </a:solidFill>
                <a:latin typeface="Noto Sans Arabic"/>
                <a:ea typeface="Noto Sans Arabic"/>
                <a:cs typeface="Noto Sans Arabic"/>
              </a:defRPr>
            </a:pPr>
            <a:r>
              <a:rPr sz="1350" b="0">
                <a:solidFill>
                  <a:srgbClr val="52606D"/>
                </a:solidFill>
                <a:latin typeface="Noto Sans Arabic"/>
                <a:ea typeface="Noto Sans Arabic"/>
                <a:cs typeface="Noto Sans Arabic"/>
              </a:rPr>
              <a:t>‏ویژگی‌ها، DBSCAN و تصمیم‌گیری</a:t>
            </a:r>
          </a:p>
        </p:txBody>
      </p:sp>
      <p:sp>
        <p:nvSpPr>
          <p:cNvPr id="13" name="">
            <a:extLst xmlns:a="http://schemas.openxmlformats.org/drawingml/2006/main">
              <a:ext uri="{FF2B5EF4-FFF2-40B4-BE49-F238E27FC236}">
                <a16:creationId xmlns:a16="http://schemas.microsoft.com/office/drawing/2014/main" id="{49059517-9030-4462-9F18-855BF1C1A336}"/>
              </a:ext>
            </a:extLst>
          </p:cNvPr>
          <p:cNvSpPr>
            <a:spLocks xmlns:a="http://schemas.openxmlformats.org/drawingml/2006/main" noGrp="1"/>
          </p:cNvSpPr>
          <p:nvPr/>
        </p:nvSpPr>
        <p:spPr>
          <a:xfrm xmlns:a="http://schemas.openxmlformats.org/drawingml/2006/main">
            <a:off x="10668000" y="3181350"/>
            <a:ext cx="628650" cy="552450"/>
          </a:xfrm>
          <a:prstGeom xmlns:a="http://schemas.openxmlformats.org/drawingml/2006/main" prst="roundRect">
            <a:avLst>
              <a:gd name="adj" fmla="val 31034"/>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۳</a:t>
            </a:r>
          </a:p>
        </p:txBody>
      </p:sp>
      <p:sp>
        <p:nvSpPr>
          <p:cNvPr id="14" name="">
            <a:extLst xmlns:a="http://schemas.openxmlformats.org/drawingml/2006/main">
              <a:ext uri="{FF2B5EF4-FFF2-40B4-BE49-F238E27FC236}">
                <a16:creationId xmlns:a16="http://schemas.microsoft.com/office/drawing/2014/main" id="{6C554B96-A405-498C-89F7-053E1B0F2207}"/>
              </a:ext>
            </a:extLst>
          </p:cNvPr>
          <p:cNvSpPr>
            <a:spLocks xmlns:a="http://schemas.openxmlformats.org/drawingml/2006/main" noGrp="1"/>
          </p:cNvSpPr>
          <p:nvPr/>
        </p:nvSpPr>
        <p:spPr>
          <a:xfrm xmlns:a="http://schemas.openxmlformats.org/drawingml/2006/main">
            <a:off x="6858000" y="3162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‏پیاده‌سازی و ارزیابی</a:t>
            </a:r>
          </a:p>
        </p:txBody>
      </p:sp>
      <p:sp>
        <p:nvSpPr>
          <p:cNvPr id="15" name="">
            <a:extLst xmlns:a="http://schemas.openxmlformats.org/drawingml/2006/main">
              <a:ext uri="{FF2B5EF4-FFF2-40B4-BE49-F238E27FC236}">
                <a16:creationId xmlns:a16="http://schemas.microsoft.com/office/drawing/2014/main" id="{90314EBB-ECAB-451D-8C93-7660BD1B7F45}"/>
              </a:ext>
            </a:extLst>
          </p:cNvPr>
          <p:cNvSpPr>
            <a:spLocks xmlns:a="http://schemas.openxmlformats.org/drawingml/2006/main" noGrp="1"/>
          </p:cNvSpPr>
          <p:nvPr/>
        </p:nvSpPr>
        <p:spPr>
          <a:xfrm xmlns:a="http://schemas.openxmlformats.org/drawingml/2006/main">
            <a:off x="1714500" y="3457575"/>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350" b="0">
                <a:solidFill>
                  <a:srgbClr val="52606D"/>
                </a:solidFill>
                <a:latin typeface="Noto Sans Arabic"/>
                <a:ea typeface="Noto Sans Arabic"/>
                <a:cs typeface="Noto Sans Arabic"/>
              </a:defRPr>
            </a:pPr>
            <a:r>
              <a:rPr sz="1350" b="0">
                <a:solidFill>
                  <a:srgbClr val="52606D"/>
                </a:solidFill>
                <a:latin typeface="Noto Sans Arabic"/>
                <a:ea typeface="Noto Sans Arabic"/>
                <a:cs typeface="Noto Sans Arabic"/>
              </a:rPr>
              <a:t>‏محیط آزمایش و پروتکل مستقل</a:t>
            </a:r>
          </a:p>
        </p:txBody>
      </p:sp>
      <p:sp>
        <p:nvSpPr>
          <p:cNvPr id="16" name="">
            <a:extLst xmlns:a="http://schemas.openxmlformats.org/drawingml/2006/main">
              <a:ext uri="{FF2B5EF4-FFF2-40B4-BE49-F238E27FC236}">
                <a16:creationId xmlns:a16="http://schemas.microsoft.com/office/drawing/2014/main" id="{B6BAA30C-507E-4DF4-A020-4FF5D9828160}"/>
              </a:ext>
            </a:extLst>
          </p:cNvPr>
          <p:cNvSpPr>
            <a:spLocks xmlns:a="http://schemas.openxmlformats.org/drawingml/2006/main" noGrp="1"/>
          </p:cNvSpPr>
          <p:nvPr/>
        </p:nvSpPr>
        <p:spPr>
          <a:xfrm xmlns:a="http://schemas.openxmlformats.org/drawingml/2006/main">
            <a:off x="10668000" y="4057650"/>
            <a:ext cx="628650" cy="552450"/>
          </a:xfrm>
          <a:prstGeom xmlns:a="http://schemas.openxmlformats.org/drawingml/2006/main" prst="roundRect">
            <a:avLst>
              <a:gd name="adj" fmla="val 31034"/>
            </a:avLst>
          </a:prstGeom>
          <a:solidFill xmlns:a="http://schemas.openxmlformats.org/drawingml/2006/main">
            <a:srgbClr val="D97706"/>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۴</a:t>
            </a:r>
          </a:p>
        </p:txBody>
      </p:sp>
      <p:sp>
        <p:nvSpPr>
          <p:cNvPr id="17" name="">
            <a:extLst xmlns:a="http://schemas.openxmlformats.org/drawingml/2006/main">
              <a:ext uri="{FF2B5EF4-FFF2-40B4-BE49-F238E27FC236}">
                <a16:creationId xmlns:a16="http://schemas.microsoft.com/office/drawing/2014/main" id="{BF2A714F-C863-4556-A5AA-7286D1FB017C}"/>
              </a:ext>
            </a:extLst>
          </p:cNvPr>
          <p:cNvSpPr>
            <a:spLocks xmlns:a="http://schemas.openxmlformats.org/drawingml/2006/main" noGrp="1"/>
          </p:cNvSpPr>
          <p:nvPr/>
        </p:nvSpPr>
        <p:spPr>
          <a:xfrm xmlns:a="http://schemas.openxmlformats.org/drawingml/2006/main">
            <a:off x="6858000" y="4038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‏نتایج و تحلیل</a:t>
            </a:r>
          </a:p>
        </p:txBody>
      </p:sp>
      <p:sp>
        <p:nvSpPr>
          <p:cNvPr id="18" name="">
            <a:extLst xmlns:a="http://schemas.openxmlformats.org/drawingml/2006/main">
              <a:ext uri="{FF2B5EF4-FFF2-40B4-BE49-F238E27FC236}">
                <a16:creationId xmlns:a16="http://schemas.microsoft.com/office/drawing/2014/main" id="{49C1CEC0-2429-4DA2-9F8E-8D09619513F4}"/>
              </a:ext>
            </a:extLst>
          </p:cNvPr>
          <p:cNvSpPr>
            <a:spLocks xmlns:a="http://schemas.openxmlformats.org/drawingml/2006/main" noGrp="1"/>
          </p:cNvSpPr>
          <p:nvPr/>
        </p:nvSpPr>
        <p:spPr>
          <a:xfrm xmlns:a="http://schemas.openxmlformats.org/drawingml/2006/main">
            <a:off x="1714500" y="4333875"/>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350" b="0">
                <a:solidFill>
                  <a:srgbClr val="52606D"/>
                </a:solidFill>
                <a:latin typeface="Noto Sans Arabic"/>
                <a:ea typeface="Noto Sans Arabic"/>
                <a:cs typeface="Noto Sans Arabic"/>
              </a:defRPr>
            </a:pPr>
            <a:r>
              <a:rPr sz="1350" b="0">
                <a:solidFill>
                  <a:srgbClr val="52606D"/>
                </a:solidFill>
                <a:latin typeface="Noto Sans Arabic"/>
                <a:ea typeface="Noto Sans Arabic"/>
                <a:cs typeface="Noto Sans Arabic"/>
              </a:rPr>
              <a:t>‏دقت تشخیص و علت هشدارهای کاذب</a:t>
            </a:r>
          </a:p>
        </p:txBody>
      </p:sp>
      <p:sp>
        <p:nvSpPr>
          <p:cNvPr id="19" name="">
            <a:extLst xmlns:a="http://schemas.openxmlformats.org/drawingml/2006/main">
              <a:ext uri="{FF2B5EF4-FFF2-40B4-BE49-F238E27FC236}">
                <a16:creationId xmlns:a16="http://schemas.microsoft.com/office/drawing/2014/main" id="{8AD0D77F-E242-4AC5-A619-2856D9577F74}"/>
              </a:ext>
            </a:extLst>
          </p:cNvPr>
          <p:cNvSpPr>
            <a:spLocks xmlns:a="http://schemas.openxmlformats.org/drawingml/2006/main" noGrp="1"/>
          </p:cNvSpPr>
          <p:nvPr/>
        </p:nvSpPr>
        <p:spPr>
          <a:xfrm xmlns:a="http://schemas.openxmlformats.org/drawingml/2006/main">
            <a:off x="10668000" y="4933950"/>
            <a:ext cx="628650" cy="552450"/>
          </a:xfrm>
          <a:prstGeom xmlns:a="http://schemas.openxmlformats.org/drawingml/2006/main" prst="roundRect">
            <a:avLst>
              <a:gd name="adj" fmla="val 31034"/>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۵</a:t>
            </a:r>
          </a:p>
        </p:txBody>
      </p:sp>
      <p:sp>
        <p:nvSpPr>
          <p:cNvPr id="20" name="">
            <a:extLst xmlns:a="http://schemas.openxmlformats.org/drawingml/2006/main">
              <a:ext uri="{FF2B5EF4-FFF2-40B4-BE49-F238E27FC236}">
                <a16:creationId xmlns:a16="http://schemas.microsoft.com/office/drawing/2014/main" id="{5D953B44-FB35-4708-9527-0690B0DB7E2B}"/>
              </a:ext>
            </a:extLst>
          </p:cNvPr>
          <p:cNvSpPr>
            <a:spLocks xmlns:a="http://schemas.openxmlformats.org/drawingml/2006/main" noGrp="1"/>
          </p:cNvSpPr>
          <p:nvPr/>
        </p:nvSpPr>
        <p:spPr>
          <a:xfrm xmlns:a="http://schemas.openxmlformats.org/drawingml/2006/main">
            <a:off x="6858000" y="49149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‏جمع‌بندی</a:t>
            </a:r>
          </a:p>
        </p:txBody>
      </p:sp>
      <p:sp>
        <p:nvSpPr>
          <p:cNvPr id="21" name="">
            <a:extLst xmlns:a="http://schemas.openxmlformats.org/drawingml/2006/main">
              <a:ext uri="{FF2B5EF4-FFF2-40B4-BE49-F238E27FC236}">
                <a16:creationId xmlns:a16="http://schemas.microsoft.com/office/drawing/2014/main" id="{30BA9F3C-8A87-46CC-9C9F-61CC6321F5CA}"/>
              </a:ext>
            </a:extLst>
          </p:cNvPr>
          <p:cNvSpPr>
            <a:spLocks xmlns:a="http://schemas.openxmlformats.org/drawingml/2006/main" noGrp="1"/>
          </p:cNvSpPr>
          <p:nvPr/>
        </p:nvSpPr>
        <p:spPr>
          <a:xfrm xmlns:a="http://schemas.openxmlformats.org/drawingml/2006/main">
            <a:off x="1714500" y="5210175"/>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350" b="0">
                <a:solidFill>
                  <a:srgbClr val="52606D"/>
                </a:solidFill>
                <a:latin typeface="Noto Sans Arabic"/>
                <a:ea typeface="Noto Sans Arabic"/>
                <a:cs typeface="Noto Sans Arabic"/>
              </a:defRPr>
            </a:pPr>
            <a:r>
              <a:rPr sz="1350" b="0">
                <a:solidFill>
                  <a:srgbClr val="52606D"/>
                </a:solidFill>
                <a:latin typeface="Noto Sans Arabic"/>
                <a:ea typeface="Noto Sans Arabic"/>
                <a:cs typeface="Noto Sans Arabic"/>
              </a:rPr>
              <a:t>‏دستاوردها، محدودیت‌ها و ادامه پژوهش</a:t>
            </a:r>
          </a:p>
        </p:txBody>
      </p:sp>
    </p:spTree>
    <p:extLst>
      <p:ext uri="{BB962C8B-B14F-4D97-AF65-F5344CB8AC3E}">
        <p14:creationId xmlns:p14="http://schemas.microsoft.com/office/powerpoint/2010/main" val="31427496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F389E0-99C4-45BE-9697-8B8755F08A59}"/>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A79BE2CB-FCB7-4507-9185-CDE972BF4ABE}"/>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F8AF9E-A5DA-4F73-BB9D-69B41DEFE19F}"/>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‏مسئله پژوهش</a:t>
            </a:r>
          </a:p>
        </p:txBody>
      </p:sp>
      <p:sp>
        <p:nvSpPr>
          <p:cNvPr id="4" name="">
            <a:extLst xmlns:a="http://schemas.openxmlformats.org/drawingml/2006/main">
              <a:ext uri="{FF2B5EF4-FFF2-40B4-BE49-F238E27FC236}">
                <a16:creationId xmlns:a16="http://schemas.microsoft.com/office/drawing/2014/main" id="{8F5E723F-3AFE-4F64-93F8-2F07DAF507CB}"/>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‏حفظ دسترس‌پذیری شبکه در برابر ترافیک پرنرخ</a:t>
            </a:r>
          </a:p>
        </p:txBody>
      </p:sp>
      <p:sp>
        <p:nvSpPr>
          <p:cNvPr id="5" name="">
            <a:extLst xmlns:a="http://schemas.openxmlformats.org/drawingml/2006/main">
              <a:ext uri="{FF2B5EF4-FFF2-40B4-BE49-F238E27FC236}">
                <a16:creationId xmlns:a16="http://schemas.microsoft.com/office/drawing/2014/main" id="{31D8602B-D52D-4498-BC74-5B079FBE66BA}"/>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03</a:t>
            </a:r>
          </a:p>
        </p:txBody>
      </p:sp>
      <p:sp>
        <p:nvSpPr>
          <p:cNvPr id="6" name="">
            <a:extLst xmlns:a="http://schemas.openxmlformats.org/drawingml/2006/main">
              <a:ext uri="{FF2B5EF4-FFF2-40B4-BE49-F238E27FC236}">
                <a16:creationId xmlns:a16="http://schemas.microsoft.com/office/drawing/2014/main" id="{2B5E3270-AA33-4007-824F-558F948C7208}"/>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BA627E9D-F388-4F02-A72F-D0BE2CAC2849}"/>
              </a:ext>
            </a:extLst>
          </p:cNvPr>
          <p:cNvSpPr>
            <a:spLocks xmlns:a="http://schemas.openxmlformats.org/drawingml/2006/main" noGrp="1"/>
          </p:cNvSpPr>
          <p:nvPr/>
        </p:nvSpPr>
        <p:spPr>
          <a:xfrm xmlns:a="http://schemas.openxmlformats.org/drawingml/2006/main">
            <a:off x="4953000" y="1466850"/>
            <a:ext cx="6286500" cy="1123950"/>
          </a:xfrm>
          <a:prstGeom xmlns:a="http://schemas.openxmlformats.org/drawingml/2006/main" prst="roundRect">
            <a:avLst>
              <a:gd name="adj" fmla="val 15254"/>
            </a:avLst>
          </a:prstGeom>
          <a:solidFill xmlns:a="http://schemas.openxmlformats.org/drawingml/2006/main">
            <a:srgbClr val="FFF3E2"/>
          </a:solidFill>
          <a:ln xmlns:a="http://schemas.openxmlformats.org/drawingml/2006/main" w="14288">
            <a:solidFill>
              <a:srgbClr val="F0C98A"/>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025" b="1">
                <a:solidFill>
                  <a:srgbClr val="163F63"/>
                </a:solidFill>
                <a:latin typeface="Noto Sans Arabic"/>
                <a:ea typeface="Noto Sans Arabic"/>
                <a:cs typeface="Noto Sans Arabic"/>
              </a:defRPr>
            </a:pPr>
            <a:r>
              <a:rPr sz="2025" b="1">
                <a:solidFill>
                  <a:srgbClr val="163F63"/>
                </a:solidFill>
                <a:latin typeface="Noto Sans Arabic"/>
                <a:ea typeface="Noto Sans Arabic"/>
                <a:cs typeface="Noto Sans Arabic"/>
              </a:rPr>
              <a:t>‏حمله DDoS با تولید حجم زیاد ترافیک، ظرفیت پردازش و منابع شبکه را مصرف می‌کند و دسترسی کاربران عادی را کاهش می‌دهد.</a:t>
            </a:r>
          </a:p>
        </p:txBody>
      </p:sp>
      <p:sp>
        <p:nvSpPr>
          <p:cNvPr id="8" name="">
            <a:extLst xmlns:a="http://schemas.openxmlformats.org/drawingml/2006/main">
              <a:ext uri="{FF2B5EF4-FFF2-40B4-BE49-F238E27FC236}">
                <a16:creationId xmlns:a16="http://schemas.microsoft.com/office/drawing/2014/main" id="{B6D24951-D109-4825-BBF6-38751119AB15}"/>
              </a:ext>
            </a:extLst>
          </p:cNvPr>
          <p:cNvSpPr>
            <a:spLocks xmlns:a="http://schemas.openxmlformats.org/drawingml/2006/main" noGrp="1"/>
          </p:cNvSpPr>
          <p:nvPr/>
        </p:nvSpPr>
        <p:spPr>
          <a:xfrm xmlns:a="http://schemas.openxmlformats.org/drawingml/2006/main">
            <a:off x="4953000" y="2905125"/>
            <a:ext cx="6286500" cy="1123950"/>
          </a:xfrm>
          <a:prstGeom xmlns:a="http://schemas.openxmlformats.org/drawingml/2006/main" prst="roundRect">
            <a:avLst>
              <a:gd name="adj" fmla="val 15254"/>
            </a:avLst>
          </a:prstGeom>
          <a:solidFill xmlns:a="http://schemas.openxmlformats.org/drawingml/2006/main">
            <a:srgbClr val="EAF2F8"/>
          </a:solidFill>
          <a:ln xmlns:a="http://schemas.openxmlformats.org/drawingml/2006/main" w="14288">
            <a:solidFill>
              <a:srgbClr val="C9D8E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0">
                <a:solidFill>
                  <a:srgbClr val="17202A"/>
                </a:solidFill>
                <a:latin typeface="Noto Sans Arabic"/>
                <a:ea typeface="Noto Sans Arabic"/>
                <a:cs typeface="Noto Sans Arabic"/>
              </a:defRPr>
            </a:pPr>
            <a:r>
              <a:rPr sz="1875" b="0">
                <a:solidFill>
                  <a:srgbClr val="17202A"/>
                </a:solidFill>
                <a:latin typeface="Noto Sans Arabic"/>
                <a:ea typeface="Noto Sans Arabic"/>
                <a:cs typeface="Noto Sans Arabic"/>
              </a:rPr>
              <a:t>‏در معماری SDN، کنترل متمرکز دید مناسبی از جریان‌های شبکه فراهم می‌کند؛ اما خود کنترل‌کننده نیز می‌تواند زیر بار درخواست‌های غیرعادی قرار گیرد.</a:t>
            </a:r>
          </a:p>
        </p:txBody>
      </p:sp>
      <p:sp>
        <p:nvSpPr>
          <p:cNvPr id="9" name="">
            <a:extLst xmlns:a="http://schemas.openxmlformats.org/drawingml/2006/main">
              <a:ext uri="{FF2B5EF4-FFF2-40B4-BE49-F238E27FC236}">
                <a16:creationId xmlns:a16="http://schemas.microsoft.com/office/drawing/2014/main" id="{CC4153E9-BD22-48CD-9743-F018F1712A8C}"/>
              </a:ext>
            </a:extLst>
          </p:cNvPr>
          <p:cNvSpPr>
            <a:spLocks xmlns:a="http://schemas.openxmlformats.org/drawingml/2006/main" noGrp="1"/>
          </p:cNvSpPr>
          <p:nvPr/>
        </p:nvSpPr>
        <p:spPr>
          <a:xfrm xmlns:a="http://schemas.openxmlformats.org/drawingml/2006/main">
            <a:off x="952500" y="15716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4650" b="1">
                <a:solidFill>
                  <a:srgbClr val="B64242"/>
                </a:solidFill>
                <a:latin typeface="Noto Sans"/>
                <a:ea typeface="Noto Sans"/>
                <a:cs typeface="Noto Sans"/>
              </a:defRPr>
            </a:pPr>
            <a:r>
              <a:rPr sz="4650" b="1">
                <a:solidFill>
                  <a:srgbClr val="B64242"/>
                </a:solidFill>
                <a:latin typeface="Noto Sans"/>
                <a:ea typeface="Noto Sans"/>
                <a:cs typeface="Noto Sans"/>
              </a:rPr>
              <a:t>DDoS</a:t>
            </a:r>
          </a:p>
        </p:txBody>
      </p:sp>
      <p:sp>
        <p:nvSpPr>
          <p:cNvPr id="10" name="">
            <a:extLst xmlns:a="http://schemas.openxmlformats.org/drawingml/2006/main">
              <a:ext uri="{FF2B5EF4-FFF2-40B4-BE49-F238E27FC236}">
                <a16:creationId xmlns:a16="http://schemas.microsoft.com/office/drawing/2014/main" id="{AFA5974F-D6F7-40BE-A1AC-0A2DE4E5B6BF}"/>
              </a:ext>
            </a:extLst>
          </p:cNvPr>
          <p:cNvSpPr>
            <a:spLocks xmlns:a="http://schemas.openxmlformats.org/drawingml/2006/main" noGrp="1"/>
          </p:cNvSpPr>
          <p:nvPr/>
        </p:nvSpPr>
        <p:spPr>
          <a:xfrm xmlns:a="http://schemas.openxmlformats.org/drawingml/2006/main">
            <a:off x="952500" y="28575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2100" b="1">
                <a:solidFill>
                  <a:srgbClr val="0F766E"/>
                </a:solidFill>
                <a:latin typeface="Noto Sans Arabic"/>
                <a:ea typeface="Noto Sans Arabic"/>
                <a:cs typeface="Noto Sans Arabic"/>
              </a:defRPr>
            </a:pPr>
            <a:r>
              <a:rPr sz="2100" b="1">
                <a:solidFill>
                  <a:srgbClr val="0F766E"/>
                </a:solidFill>
                <a:latin typeface="Noto Sans Arabic"/>
                <a:ea typeface="Noto Sans Arabic"/>
                <a:cs typeface="Noto Sans Arabic"/>
              </a:rPr>
              <a:t>‏نیاز پژوهش</a:t>
            </a:r>
          </a:p>
        </p:txBody>
      </p:sp>
      <p:sp>
        <p:nvSpPr>
          <p:cNvPr id="11" name="">
            <a:extLst xmlns:a="http://schemas.openxmlformats.org/drawingml/2006/main">
              <a:ext uri="{FF2B5EF4-FFF2-40B4-BE49-F238E27FC236}">
                <a16:creationId xmlns:a16="http://schemas.microsoft.com/office/drawing/2014/main" id="{3D3A6BED-0F08-4D32-88F8-F3A144E68C32}"/>
              </a:ext>
            </a:extLst>
          </p:cNvPr>
          <p:cNvSpPr>
            <a:spLocks xmlns:a="http://schemas.openxmlformats.org/drawingml/2006/main" noGrp="1"/>
          </p:cNvSpPr>
          <p:nvPr/>
        </p:nvSpPr>
        <p:spPr>
          <a:xfrm xmlns:a="http://schemas.openxmlformats.org/drawingml/2006/main">
            <a:off x="876300" y="3429000"/>
            <a:ext cx="3295650" cy="1143000"/>
          </a:xfrm>
          <a:prstGeom xmlns:a="http://schemas.openxmlformats.org/drawingml/2006/main" prst="roundRect">
            <a:avLst>
              <a:gd name="adj" fmla="val 15000"/>
            </a:avLst>
          </a:prstGeom>
          <a:solidFill xmlns:a="http://schemas.openxmlformats.org/drawingml/2006/main">
            <a:srgbClr val="E7F4F1"/>
          </a:solidFill>
          <a:ln xmlns:a="http://schemas.openxmlformats.org/drawingml/2006/main" w="14288">
            <a:solidFill>
              <a:srgbClr val="A7D9D2"/>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0">
                <a:solidFill>
                  <a:srgbClr val="17202A"/>
                </a:solidFill>
                <a:latin typeface="Noto Sans Arabic"/>
                <a:ea typeface="Noto Sans Arabic"/>
                <a:cs typeface="Noto Sans Arabic"/>
              </a:defRPr>
            </a:pPr>
            <a:r>
              <a:rPr sz="1875" b="0">
                <a:solidFill>
                  <a:srgbClr val="17202A"/>
                </a:solidFill>
                <a:latin typeface="Noto Sans Arabic"/>
                <a:ea typeface="Noto Sans Arabic"/>
                <a:cs typeface="Noto Sans Arabic"/>
              </a:rPr>
              <a:t>‏تشخیص سبک، قابل‌توضیح و مستقل از برچسب‌های آموزشی گسترده</a:t>
            </a:r>
          </a:p>
        </p:txBody>
      </p:sp>
      <p:sp>
        <p:nvSpPr>
          <p:cNvPr id="12" name="">
            <a:extLst xmlns:a="http://schemas.openxmlformats.org/drawingml/2006/main">
              <a:ext uri="{FF2B5EF4-FFF2-40B4-BE49-F238E27FC236}">
                <a16:creationId xmlns:a16="http://schemas.microsoft.com/office/drawing/2014/main" id="{5E98FB94-19F6-44DF-B85F-741890E91FC8}"/>
              </a:ext>
            </a:extLst>
          </p:cNvPr>
          <p:cNvSpPr>
            <a:spLocks xmlns:a="http://schemas.openxmlformats.org/drawingml/2006/main" noGrp="1"/>
          </p:cNvSpPr>
          <p:nvPr/>
        </p:nvSpPr>
        <p:spPr>
          <a:xfrm xmlns:a="http://schemas.openxmlformats.org/drawingml/2006/main">
            <a:off x="1428750" y="5048250"/>
            <a:ext cx="9810750" cy="666750"/>
          </a:xfrm>
          <a:prstGeom xmlns:a="http://schemas.openxmlformats.org/drawingml/2006/main" prst="roundRect">
            <a:avLst>
              <a:gd name="adj" fmla="val 22857"/>
            </a:avLst>
          </a:prstGeom>
          <a:solidFill xmlns:a="http://schemas.openxmlformats.org/drawingml/2006/main">
            <a:srgbClr val="163F63"/>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2025" b="1">
                <a:solidFill>
                  <a:srgbClr val="FFFFFF"/>
                </a:solidFill>
                <a:latin typeface="Noto Sans Arabic"/>
                <a:ea typeface="Noto Sans Arabic"/>
                <a:cs typeface="Noto Sans Arabic"/>
              </a:defRPr>
            </a:pPr>
            <a:r>
              <a:rPr sz="2025" b="1">
                <a:solidFill>
                  <a:srgbClr val="FFFFFF"/>
                </a:solidFill>
                <a:latin typeface="Noto Sans Arabic"/>
                <a:ea typeface="Noto Sans Arabic"/>
                <a:cs typeface="Noto Sans Arabic"/>
              </a:rPr>
              <a:t>‏پرسش محوری: آیا الگوی آماری جریان‌ها می‌تواند ترافیک پرنرخ را بدون آموزش نظارت‌شده جدا کند؟</a:t>
            </a:r>
          </a:p>
        </p:txBody>
      </p:sp>
    </p:spTree>
    <p:extLst>
      <p:ext uri="{BB962C8B-B14F-4D97-AF65-F5344CB8AC3E}">
        <p14:creationId xmlns:p14="http://schemas.microsoft.com/office/powerpoint/2010/main" val="205113380"/>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B2B171-9CD7-4F8C-AD2E-86A25836A197}"/>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6DBE540C-9EC2-4CF9-8E98-6D0468F08EC3}"/>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FFE3FA-A24D-44E7-B1CF-A28677DB1B8A}"/>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‏نقش DBSCAN در تشخیص ناهنجاری</a:t>
            </a:r>
          </a:p>
        </p:txBody>
      </p:sp>
      <p:sp>
        <p:nvSpPr>
          <p:cNvPr id="4" name="">
            <a:extLst xmlns:a="http://schemas.openxmlformats.org/drawingml/2006/main">
              <a:ext uri="{FF2B5EF4-FFF2-40B4-BE49-F238E27FC236}">
                <a16:creationId xmlns:a16="http://schemas.microsoft.com/office/drawing/2014/main" id="{E41161ED-721E-4DE7-9C5A-C8858E07B1C7}"/>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‏جداسازی نواحی پرتراکم و نقاط دورافتاده</a:t>
            </a:r>
          </a:p>
        </p:txBody>
      </p:sp>
      <p:sp>
        <p:nvSpPr>
          <p:cNvPr id="5" name="">
            <a:extLst xmlns:a="http://schemas.openxmlformats.org/drawingml/2006/main">
              <a:ext uri="{FF2B5EF4-FFF2-40B4-BE49-F238E27FC236}">
                <a16:creationId xmlns:a16="http://schemas.microsoft.com/office/drawing/2014/main" id="{A2C06B0B-2488-4B22-A897-E417BF3F285E}"/>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04</a:t>
            </a:r>
          </a:p>
        </p:txBody>
      </p:sp>
      <p:sp>
        <p:nvSpPr>
          <p:cNvPr id="6" name="">
            <a:extLst xmlns:a="http://schemas.openxmlformats.org/drawingml/2006/main">
              <a:ext uri="{FF2B5EF4-FFF2-40B4-BE49-F238E27FC236}">
                <a16:creationId xmlns:a16="http://schemas.microsoft.com/office/drawing/2014/main" id="{DDC0053A-19FD-43E3-B85E-98CC120BCF87}"/>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4E5B10F7-2A86-4A10-B617-92CD4104F94E}"/>
              </a:ext>
            </a:extLst>
          </p:cNvPr>
          <p:cNvSpPr>
            <a:spLocks xmlns:a="http://schemas.openxmlformats.org/drawingml/2006/main" noGrp="1"/>
          </p:cNvSpPr>
          <p:nvPr/>
        </p:nvSpPr>
        <p:spPr>
          <a:xfrm xmlns:a="http://schemas.openxmlformats.org/drawingml/2006/main">
            <a:off x="4953000" y="146685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025" b="1">
                <a:solidFill>
                  <a:srgbClr val="163F63"/>
                </a:solidFill>
                <a:latin typeface="Noto Sans Arabic"/>
                <a:ea typeface="Noto Sans Arabic"/>
                <a:cs typeface="Noto Sans Arabic"/>
              </a:defRPr>
            </a:pPr>
            <a:r>
              <a:rPr sz="2025" b="1">
                <a:solidFill>
                  <a:srgbClr val="163F63"/>
                </a:solidFill>
                <a:latin typeface="Noto Sans Arabic"/>
                <a:ea typeface="Noto Sans Arabic"/>
                <a:cs typeface="Noto Sans Arabic"/>
              </a:rPr>
              <a:t>‏DBSCAN شکل خوشه‌ها را از روی چگالی داده پیدا می‌کند و نقاط دور از خوشه‌های متراکم را نویز می‌نامد.</a:t>
            </a:r>
          </a:p>
        </p:txBody>
      </p:sp>
      <p:sp>
        <p:nvSpPr>
          <p:cNvPr id="8" name="">
            <a:extLst xmlns:a="http://schemas.openxmlformats.org/drawingml/2006/main">
              <a:ext uri="{FF2B5EF4-FFF2-40B4-BE49-F238E27FC236}">
                <a16:creationId xmlns:a16="http://schemas.microsoft.com/office/drawing/2014/main" id="{27A4D50F-9BD6-4409-A610-3CF11FCF591D}"/>
              </a:ext>
            </a:extLst>
          </p:cNvPr>
          <p:cNvSpPr>
            <a:spLocks xmlns:a="http://schemas.openxmlformats.org/drawingml/2006/main" noGrp="1"/>
          </p:cNvSpPr>
          <p:nvPr/>
        </p:nvSpPr>
        <p:spPr>
          <a:xfrm xmlns:a="http://schemas.openxmlformats.org/drawingml/2006/main">
            <a:off x="2095500" y="2428875"/>
            <a:ext cx="1428750" cy="1428750"/>
          </a:xfrm>
          <a:prstGeom xmlns:a="http://schemas.openxmlformats.org/drawingml/2006/main" prst="ellipse">
            <a:avLst/>
          </a:prstGeom>
          <a:solidFill xmlns:a="http://schemas.openxmlformats.org/drawingml/2006/main">
            <a:srgbClr val="0F766E"/>
          </a:solidFill>
          <a:ln xmlns:a="http://schemas.openxmlformats.org/drawingml/2006/main" w="19050">
            <a:solidFill>
              <a:srgbClr val="0A5B55"/>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650" b="1">
                <a:solidFill>
                  <a:srgbClr val="FFFFFF"/>
                </a:solidFill>
                <a:latin typeface="Noto Sans Arabic"/>
                <a:ea typeface="Noto Sans Arabic"/>
                <a:cs typeface="Noto Sans Arabic"/>
              </a:defRPr>
            </a:pPr>
            <a:r>
              <a:rPr sz="1650" b="1">
                <a:solidFill>
                  <a:srgbClr val="FFFFFF"/>
                </a:solidFill>
                <a:latin typeface="Noto Sans Arabic"/>
                <a:ea typeface="Noto Sans Arabic"/>
                <a:cs typeface="Noto Sans Arabic"/>
              </a:rPr>
              <a:t>‏نقطه هسته‌ای</a:t>
            </a:r>
          </a:p>
        </p:txBody>
      </p:sp>
      <p:sp>
        <p:nvSpPr>
          <p:cNvPr id="9" name="">
            <a:extLst xmlns:a="http://schemas.openxmlformats.org/drawingml/2006/main">
              <a:ext uri="{FF2B5EF4-FFF2-40B4-BE49-F238E27FC236}">
                <a16:creationId xmlns:a16="http://schemas.microsoft.com/office/drawing/2014/main" id="{2D72602B-802D-4773-ADDE-6504579EF9D6}"/>
              </a:ext>
            </a:extLst>
          </p:cNvPr>
          <p:cNvSpPr>
            <a:spLocks xmlns:a="http://schemas.openxmlformats.org/drawingml/2006/main" noGrp="1"/>
          </p:cNvSpPr>
          <p:nvPr/>
        </p:nvSpPr>
        <p:spPr>
          <a:xfrm xmlns:a="http://schemas.openxmlformats.org/drawingml/2006/main">
            <a:off x="1000125" y="3381375"/>
            <a:ext cx="1123950" cy="1123950"/>
          </a:xfrm>
          <a:prstGeom xmlns:a="http://schemas.openxmlformats.org/drawingml/2006/main" prst="ellipse">
            <a:avLst/>
          </a:prstGeom>
          <a:solidFill xmlns:a="http://schemas.openxmlformats.org/drawingml/2006/main">
            <a:srgbClr val="EAF2F8"/>
          </a:solidFill>
          <a:ln xmlns:a="http://schemas.openxmlformats.org/drawingml/2006/main" w="28575">
            <a:solidFill>
              <a:srgbClr val="2B6A97"/>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2B6A97"/>
                </a:solidFill>
                <a:latin typeface="Noto Sans Arabic"/>
                <a:ea typeface="Noto Sans Arabic"/>
                <a:cs typeface="Noto Sans Arabic"/>
              </a:defRPr>
            </a:pPr>
            <a:r>
              <a:rPr sz="1500" b="1">
                <a:solidFill>
                  <a:srgbClr val="2B6A97"/>
                </a:solidFill>
                <a:latin typeface="Noto Sans Arabic"/>
                <a:ea typeface="Noto Sans Arabic"/>
                <a:cs typeface="Noto Sans Arabic"/>
              </a:rPr>
              <a:t>‏مرزی</a:t>
            </a:r>
          </a:p>
        </p:txBody>
      </p:sp>
      <p:sp>
        <p:nvSpPr>
          <p:cNvPr id="10" name="">
            <a:extLst xmlns:a="http://schemas.openxmlformats.org/drawingml/2006/main">
              <a:ext uri="{FF2B5EF4-FFF2-40B4-BE49-F238E27FC236}">
                <a16:creationId xmlns:a16="http://schemas.microsoft.com/office/drawing/2014/main" id="{2AFE0753-2A87-40B2-802F-1E15628E96BC}"/>
              </a:ext>
            </a:extLst>
          </p:cNvPr>
          <p:cNvSpPr>
            <a:spLocks xmlns:a="http://schemas.openxmlformats.org/drawingml/2006/main" noGrp="1"/>
          </p:cNvSpPr>
          <p:nvPr/>
        </p:nvSpPr>
        <p:spPr>
          <a:xfrm xmlns:a="http://schemas.openxmlformats.org/drawingml/2006/main">
            <a:off x="3476625" y="4400550"/>
            <a:ext cx="723900" cy="723900"/>
          </a:xfrm>
          <a:prstGeom xmlns:a="http://schemas.openxmlformats.org/drawingml/2006/main" prst="ellipse">
            <a:avLst/>
          </a:prstGeom>
          <a:solidFill xmlns:a="http://schemas.openxmlformats.org/drawingml/2006/main">
            <a:srgbClr val="FFF3E2"/>
          </a:solidFill>
          <a:ln xmlns:a="http://schemas.openxmlformats.org/drawingml/2006/main" w="28575">
            <a:solidFill>
              <a:srgbClr val="D9770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275" b="1">
                <a:solidFill>
                  <a:srgbClr val="D97706"/>
                </a:solidFill>
                <a:latin typeface="Noto Sans Arabic"/>
                <a:ea typeface="Noto Sans Arabic"/>
                <a:cs typeface="Noto Sans Arabic"/>
              </a:defRPr>
            </a:pPr>
            <a:r>
              <a:rPr sz="1275" b="1">
                <a:solidFill>
                  <a:srgbClr val="D97706"/>
                </a:solidFill>
                <a:latin typeface="Noto Sans Arabic"/>
                <a:ea typeface="Noto Sans Arabic"/>
                <a:cs typeface="Noto Sans Arabic"/>
              </a:rPr>
              <a:t>‏نویز</a:t>
            </a:r>
          </a:p>
        </p:txBody>
      </p:sp>
      <p:sp>
        <p:nvSpPr>
          <p:cNvPr id="11" name="">
            <a:extLst xmlns:a="http://schemas.openxmlformats.org/drawingml/2006/main">
              <a:ext uri="{FF2B5EF4-FFF2-40B4-BE49-F238E27FC236}">
                <a16:creationId xmlns:a16="http://schemas.microsoft.com/office/drawing/2014/main" id="{EEC5A4B2-050A-4B3F-8B67-3FBC3A8B4AB3}"/>
              </a:ext>
            </a:extLst>
          </p:cNvPr>
          <p:cNvSpPr>
            <a:spLocks xmlns:a="http://schemas.openxmlformats.org/drawingml/2006/main" noGrp="1"/>
          </p:cNvSpPr>
          <p:nvPr/>
        </p:nvSpPr>
        <p:spPr>
          <a:xfrm xmlns:a="http://schemas.openxmlformats.org/drawingml/2006/main">
            <a:off x="6667500" y="27622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025" b="1">
                <a:solidFill>
                  <a:srgbClr val="0F766E"/>
                </a:solidFill>
                <a:latin typeface="Noto Sans Arabic"/>
                <a:ea typeface="Noto Sans Arabic"/>
                <a:cs typeface="Noto Sans Arabic"/>
              </a:defRPr>
            </a:pPr>
            <a:r>
              <a:rPr sz="2025" b="1">
                <a:solidFill>
                  <a:srgbClr val="0F766E"/>
                </a:solidFill>
                <a:latin typeface="Noto Sans Arabic"/>
                <a:ea typeface="Noto Sans Arabic"/>
                <a:cs typeface="Noto Sans Arabic"/>
              </a:rPr>
              <a:t>‏مزیت‌ها برای این پژوهش</a:t>
            </a:r>
          </a:p>
        </p:txBody>
      </p:sp>
      <p:sp>
        <p:nvSpPr>
          <p:cNvPr id="12" name="">
            <a:extLst xmlns:a="http://schemas.openxmlformats.org/drawingml/2006/main">
              <a:ext uri="{FF2B5EF4-FFF2-40B4-BE49-F238E27FC236}">
                <a16:creationId xmlns:a16="http://schemas.microsoft.com/office/drawing/2014/main" id="{8DF0E84A-2102-4B99-AEBF-C5D9B5474DEC}"/>
              </a:ext>
            </a:extLst>
          </p:cNvPr>
          <p:cNvSpPr>
            <a:spLocks xmlns:a="http://schemas.openxmlformats.org/drawingml/2006/main" noGrp="1"/>
          </p:cNvSpPr>
          <p:nvPr/>
        </p:nvSpPr>
        <p:spPr>
          <a:xfrm xmlns:a="http://schemas.openxmlformats.org/drawingml/2006/main">
            <a:off x="5429250" y="3257550"/>
            <a:ext cx="5810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marL="279400" indent="-127000" algn="r">
              <a:spcAft>
                <a:spcPts val="9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‏نیازی به تعیین تعداد خوشه‌ها از قبل ندارد</a:t>
            </a:r>
          </a:p>
          <a:p xmlns:a="http://schemas.openxmlformats.org/drawingml/2006/main">
            <a:pPr marL="279400" indent="-127000" algn="r">
              <a:spcAft>
                <a:spcPts val="9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‏نقاط نویزی را به‌صورت صریح مشخص می‌کند</a:t>
            </a:r>
          </a:p>
          <a:p xmlns:a="http://schemas.openxmlformats.org/drawingml/2006/main">
            <a:pPr marL="279400" indent="-127000" algn="r">
              <a:spcAft>
                <a:spcPts val="9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‏برای داده‌های کم‌بعدِ جریان شبکه قابل‌استفاده است</a:t>
            </a:r>
          </a:p>
          <a:p xmlns:a="http://schemas.openxmlformats.org/drawingml/2006/main">
            <a:pPr marL="279400" indent="-127000" algn="r">
              <a:spcAft>
                <a:spcPts val="9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‏نتیجه آن برای تحلیل پژوهشی قابل توضیح است</a:t>
            </a:r>
          </a:p>
        </p:txBody>
      </p:sp>
    </p:spTree>
    <p:extLst>
      <p:ext uri="{BB962C8B-B14F-4D97-AF65-F5344CB8AC3E}">
        <p14:creationId xmlns:p14="http://schemas.microsoft.com/office/powerpoint/2010/main" val="48012058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EDA12E-21F2-4FF0-A223-43E5EEEECCEC}"/>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92D758B7-8C10-4719-BE08-0559E7A957EC}"/>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728574-574E-4585-BB5E-125618EC3F21}"/>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‏شکاف پژوهش و هدف</a:t>
            </a:r>
          </a:p>
        </p:txBody>
      </p:sp>
      <p:sp>
        <p:nvSpPr>
          <p:cNvPr id="4" name="">
            <a:extLst xmlns:a="http://schemas.openxmlformats.org/drawingml/2006/main">
              <a:ext uri="{FF2B5EF4-FFF2-40B4-BE49-F238E27FC236}">
                <a16:creationId xmlns:a16="http://schemas.microsoft.com/office/drawing/2014/main" id="{BE300981-F096-4817-96D5-9F77E0D4C1C0}"/>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‏ترکیب پایش جریان با ارزیابی مستقل</a:t>
            </a:r>
          </a:p>
        </p:txBody>
      </p:sp>
      <p:sp>
        <p:nvSpPr>
          <p:cNvPr id="5" name="">
            <a:extLst xmlns:a="http://schemas.openxmlformats.org/drawingml/2006/main">
              <a:ext uri="{FF2B5EF4-FFF2-40B4-BE49-F238E27FC236}">
                <a16:creationId xmlns:a16="http://schemas.microsoft.com/office/drawing/2014/main" id="{6826116C-ECA1-4EE9-B2B5-1750BFAD1623}"/>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05</a:t>
            </a:r>
          </a:p>
        </p:txBody>
      </p:sp>
      <p:sp>
        <p:nvSpPr>
          <p:cNvPr id="6" name="">
            <a:extLst xmlns:a="http://schemas.openxmlformats.org/drawingml/2006/main">
              <a:ext uri="{FF2B5EF4-FFF2-40B4-BE49-F238E27FC236}">
                <a16:creationId xmlns:a16="http://schemas.microsoft.com/office/drawing/2014/main" id="{789005A8-C76A-49E6-9013-2C25F08A86C5}"/>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9796EFF1-3003-4AFA-8B94-60DBE40A312B}"/>
              </a:ext>
            </a:extLst>
          </p:cNvPr>
          <p:cNvSpPr>
            <a:spLocks xmlns:a="http://schemas.openxmlformats.org/drawingml/2006/main" noGrp="1"/>
          </p:cNvSpPr>
          <p:nvPr/>
        </p:nvSpPr>
        <p:spPr>
          <a:xfrm xmlns:a="http://schemas.openxmlformats.org/drawingml/2006/main">
            <a:off x="9620250" y="15240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00" b="1">
                <a:solidFill>
                  <a:srgbClr val="B64242"/>
                </a:solidFill>
                <a:latin typeface="Noto Sans Arabic"/>
                <a:ea typeface="Noto Sans Arabic"/>
                <a:cs typeface="Noto Sans Arabic"/>
              </a:defRPr>
            </a:pPr>
            <a:r>
              <a:rPr sz="2100" b="1">
                <a:solidFill>
                  <a:srgbClr val="B64242"/>
                </a:solidFill>
                <a:latin typeface="Noto Sans Arabic"/>
                <a:ea typeface="Noto Sans Arabic"/>
                <a:cs typeface="Noto Sans Arabic"/>
              </a:rPr>
              <a:t>‏شکاف</a:t>
            </a:r>
          </a:p>
        </p:txBody>
      </p:sp>
      <p:sp>
        <p:nvSpPr>
          <p:cNvPr id="8" name="">
            <a:extLst xmlns:a="http://schemas.openxmlformats.org/drawingml/2006/main">
              <a:ext uri="{FF2B5EF4-FFF2-40B4-BE49-F238E27FC236}">
                <a16:creationId xmlns:a16="http://schemas.microsoft.com/office/drawing/2014/main" id="{80A9618C-6C9B-451F-8464-31E464C52909}"/>
              </a:ext>
            </a:extLst>
          </p:cNvPr>
          <p:cNvSpPr>
            <a:spLocks xmlns:a="http://schemas.openxmlformats.org/drawingml/2006/main" noGrp="1"/>
          </p:cNvSpPr>
          <p:nvPr/>
        </p:nvSpPr>
        <p:spPr>
          <a:xfrm xmlns:a="http://schemas.openxmlformats.org/drawingml/2006/main">
            <a:off x="3238500" y="1504950"/>
            <a:ext cx="8001000" cy="1085850"/>
          </a:xfrm>
          <a:prstGeom xmlns:a="http://schemas.openxmlformats.org/drawingml/2006/main" prst="roundRect">
            <a:avLst>
              <a:gd name="adj" fmla="val 15789"/>
            </a:avLst>
          </a:prstGeom>
          <a:solidFill xmlns:a="http://schemas.openxmlformats.org/drawingml/2006/main">
            <a:srgbClr val="FFF3E2"/>
          </a:solidFill>
          <a:ln xmlns:a="http://schemas.openxmlformats.org/drawingml/2006/main" w="14288">
            <a:solidFill>
              <a:srgbClr val="F0C98A"/>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00" b="0">
                <a:solidFill>
                  <a:srgbClr val="17202A"/>
                </a:solidFill>
                <a:latin typeface="Noto Sans Arabic"/>
                <a:ea typeface="Noto Sans Arabic"/>
                <a:cs typeface="Noto Sans Arabic"/>
              </a:defRPr>
            </a:pPr>
            <a:r>
              <a:rPr sz="1800" b="0">
                <a:solidFill>
                  <a:srgbClr val="17202A"/>
                </a:solidFill>
                <a:latin typeface="Noto Sans Arabic"/>
                <a:ea typeface="Noto Sans Arabic"/>
                <a:cs typeface="Noto Sans Arabic"/>
              </a:rPr>
              <a:t>‏بسیاری از مطالعات، ارزیابی را روی داده‌های ازپیش‌آماده انجام می‌دهند یا کالیبراسیون و آزمون را از هم جدا نمی‌کنند؛ در نتیجه برآورد عملکرد می‌تواند خوش‌بینانه باشد.</a:t>
            </a:r>
          </a:p>
        </p:txBody>
      </p:sp>
      <p:sp>
        <p:nvSpPr>
          <p:cNvPr id="9" name="">
            <a:extLst xmlns:a="http://schemas.openxmlformats.org/drawingml/2006/main">
              <a:ext uri="{FF2B5EF4-FFF2-40B4-BE49-F238E27FC236}">
                <a16:creationId xmlns:a16="http://schemas.microsoft.com/office/drawing/2014/main" id="{D344E6D2-E945-4EDE-B769-E8B54ACC5D04}"/>
              </a:ext>
            </a:extLst>
          </p:cNvPr>
          <p:cNvSpPr>
            <a:spLocks xmlns:a="http://schemas.openxmlformats.org/drawingml/2006/main" noGrp="1"/>
          </p:cNvSpPr>
          <p:nvPr/>
        </p:nvSpPr>
        <p:spPr>
          <a:xfrm xmlns:a="http://schemas.openxmlformats.org/drawingml/2006/main">
            <a:off x="9620250" y="30670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00" b="1">
                <a:solidFill>
                  <a:srgbClr val="0F766E"/>
                </a:solidFill>
                <a:latin typeface="Noto Sans Arabic"/>
                <a:ea typeface="Noto Sans Arabic"/>
                <a:cs typeface="Noto Sans Arabic"/>
              </a:defRPr>
            </a:pPr>
            <a:r>
              <a:rPr sz="2100" b="1">
                <a:solidFill>
                  <a:srgbClr val="0F766E"/>
                </a:solidFill>
                <a:latin typeface="Noto Sans Arabic"/>
                <a:ea typeface="Noto Sans Arabic"/>
                <a:cs typeface="Noto Sans Arabic"/>
              </a:rPr>
              <a:t>‏هدف</a:t>
            </a:r>
          </a:p>
        </p:txBody>
      </p:sp>
      <p:sp>
        <p:nvSpPr>
          <p:cNvPr id="10" name="">
            <a:extLst xmlns:a="http://schemas.openxmlformats.org/drawingml/2006/main">
              <a:ext uri="{FF2B5EF4-FFF2-40B4-BE49-F238E27FC236}">
                <a16:creationId xmlns:a16="http://schemas.microsoft.com/office/drawing/2014/main" id="{9500966F-15C9-4AAB-9E6F-03676C48C91B}"/>
              </a:ext>
            </a:extLst>
          </p:cNvPr>
          <p:cNvSpPr>
            <a:spLocks xmlns:a="http://schemas.openxmlformats.org/drawingml/2006/main" noGrp="1"/>
          </p:cNvSpPr>
          <p:nvPr/>
        </p:nvSpPr>
        <p:spPr>
          <a:xfrm xmlns:a="http://schemas.openxmlformats.org/drawingml/2006/main">
            <a:off x="3238500" y="3048000"/>
            <a:ext cx="8001000" cy="1028700"/>
          </a:xfrm>
          <a:prstGeom xmlns:a="http://schemas.openxmlformats.org/drawingml/2006/main" prst="roundRect">
            <a:avLst>
              <a:gd name="adj" fmla="val 16667"/>
            </a:avLst>
          </a:prstGeom>
          <a:solidFill xmlns:a="http://schemas.openxmlformats.org/drawingml/2006/main">
            <a:srgbClr val="E7F4F1"/>
          </a:solidFill>
          <a:ln xmlns:a="http://schemas.openxmlformats.org/drawingml/2006/main" w="14288">
            <a:solidFill>
              <a:srgbClr val="A7D9D2"/>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‏طراحی و ارزیابی روشی مبتنی بر DBSCAN که با آمار جریان‌های OpenFlow، ترافیک عادی را مدل کند و ترافیک پرنرخ ICMP را در اجرای مستقل تشخیص دهد.</a:t>
            </a:r>
          </a:p>
        </p:txBody>
      </p:sp>
      <p:sp>
        <p:nvSpPr>
          <p:cNvPr id="11" name="">
            <a:extLst xmlns:a="http://schemas.openxmlformats.org/drawingml/2006/main">
              <a:ext uri="{FF2B5EF4-FFF2-40B4-BE49-F238E27FC236}">
                <a16:creationId xmlns:a16="http://schemas.microsoft.com/office/drawing/2014/main" id="{7F87F530-78E4-4592-B697-C87AC6CD551B}"/>
              </a:ext>
            </a:extLst>
          </p:cNvPr>
          <p:cNvSpPr>
            <a:spLocks xmlns:a="http://schemas.openxmlformats.org/drawingml/2006/main" noGrp="1"/>
          </p:cNvSpPr>
          <p:nvPr/>
        </p:nvSpPr>
        <p:spPr>
          <a:xfrm xmlns:a="http://schemas.openxmlformats.org/drawingml/2006/main">
            <a:off x="9620250" y="45910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950" b="1">
                <a:solidFill>
                  <a:srgbClr val="2B6A97"/>
                </a:solidFill>
                <a:latin typeface="Noto Sans Arabic"/>
                <a:ea typeface="Noto Sans Arabic"/>
                <a:cs typeface="Noto Sans Arabic"/>
              </a:defRPr>
            </a:pPr>
            <a:r>
              <a:rPr sz="1950" b="1">
                <a:solidFill>
                  <a:srgbClr val="2B6A97"/>
                </a:solidFill>
                <a:latin typeface="Noto Sans Arabic"/>
                <a:ea typeface="Noto Sans Arabic"/>
                <a:cs typeface="Noto Sans Arabic"/>
              </a:rPr>
              <a:t>‏تمایز ارزیابی</a:t>
            </a:r>
          </a:p>
        </p:txBody>
      </p:sp>
      <p:sp>
        <p:nvSpPr>
          <p:cNvPr id="12" name="">
            <a:extLst xmlns:a="http://schemas.openxmlformats.org/drawingml/2006/main">
              <a:ext uri="{FF2B5EF4-FFF2-40B4-BE49-F238E27FC236}">
                <a16:creationId xmlns:a16="http://schemas.microsoft.com/office/drawing/2014/main" id="{3DA0CADE-DA12-43BC-882B-7CB48378ED1F}"/>
              </a:ext>
            </a:extLst>
          </p:cNvPr>
          <p:cNvSpPr>
            <a:spLocks xmlns:a="http://schemas.openxmlformats.org/drawingml/2006/main" noGrp="1"/>
          </p:cNvSpPr>
          <p:nvPr/>
        </p:nvSpPr>
        <p:spPr>
          <a:xfrm xmlns:a="http://schemas.openxmlformats.org/drawingml/2006/main">
            <a:off x="3238500" y="4524375"/>
            <a:ext cx="8001000" cy="857250"/>
          </a:xfrm>
          <a:prstGeom xmlns:a="http://schemas.openxmlformats.org/drawingml/2006/main" prst="roundRect">
            <a:avLst>
              <a:gd name="adj" fmla="val 20000"/>
            </a:avLst>
          </a:prstGeom>
          <a:solidFill xmlns:a="http://schemas.openxmlformats.org/drawingml/2006/main">
            <a:srgbClr val="EAF2F8"/>
          </a:solidFill>
          <a:ln xmlns:a="http://schemas.openxmlformats.org/drawingml/2006/main" w="14288">
            <a:solidFill>
              <a:srgbClr val="C9D8E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00" b="0">
                <a:solidFill>
                  <a:srgbClr val="17202A"/>
                </a:solidFill>
                <a:latin typeface="Noto Sans Arabic"/>
                <a:ea typeface="Noto Sans Arabic"/>
                <a:cs typeface="Noto Sans Arabic"/>
              </a:defRPr>
            </a:pPr>
            <a:r>
              <a:rPr sz="1800" b="0">
                <a:solidFill>
                  <a:srgbClr val="17202A"/>
                </a:solidFill>
                <a:latin typeface="Noto Sans Arabic"/>
                <a:ea typeface="Noto Sans Arabic"/>
                <a:cs typeface="Noto Sans Arabic"/>
              </a:rPr>
              <a:t>‏دو دید مکمل بررسی شد: تشخیص ناهنجاری بر پایه نویز و کشف ساختار بر پایه جدایی خوشه ترافیک پرنرخ.</a:t>
            </a:r>
          </a:p>
        </p:txBody>
      </p:sp>
    </p:spTree>
    <p:extLst>
      <p:ext uri="{BB962C8B-B14F-4D97-AF65-F5344CB8AC3E}">
        <p14:creationId xmlns:p14="http://schemas.microsoft.com/office/powerpoint/2010/main" val="162279983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94F503-11C3-43C2-B2FE-28798BEA3343}"/>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DE534074-A7F7-4D92-825D-219222CD96DE}"/>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379E3A-0E92-4BF9-984C-BCE52D01CEB3}"/>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‏روش پیشنهادی</a:t>
            </a:r>
          </a:p>
        </p:txBody>
      </p:sp>
      <p:sp>
        <p:nvSpPr>
          <p:cNvPr id="4" name="">
            <a:extLst xmlns:a="http://schemas.openxmlformats.org/drawingml/2006/main">
              <a:ext uri="{FF2B5EF4-FFF2-40B4-BE49-F238E27FC236}">
                <a16:creationId xmlns:a16="http://schemas.microsoft.com/office/drawing/2014/main" id="{E16A0584-D079-4EF6-9870-78125E8349EA}"/>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‏از محیط SDN تا ارزیابی تشخیص</a:t>
            </a:r>
          </a:p>
        </p:txBody>
      </p:sp>
      <p:sp>
        <p:nvSpPr>
          <p:cNvPr id="5" name="">
            <a:extLst xmlns:a="http://schemas.openxmlformats.org/drawingml/2006/main">
              <a:ext uri="{FF2B5EF4-FFF2-40B4-BE49-F238E27FC236}">
                <a16:creationId xmlns:a16="http://schemas.microsoft.com/office/drawing/2014/main" id="{BBE28ACD-CA00-4A48-BCB4-7D217754FB23}"/>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06</a:t>
            </a:r>
          </a:p>
        </p:txBody>
      </p:sp>
      <p:sp>
        <p:nvSpPr>
          <p:cNvPr id="6" name="">
            <a:extLst xmlns:a="http://schemas.openxmlformats.org/drawingml/2006/main">
              <a:ext uri="{FF2B5EF4-FFF2-40B4-BE49-F238E27FC236}">
                <a16:creationId xmlns:a16="http://schemas.microsoft.com/office/drawing/2014/main" id="{CDBCA838-14D5-42DE-A8FF-1B094FC31F46}"/>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0b948e69954d06"/>
          <a:stretch xmlns:a="http://schemas.openxmlformats.org/drawingml/2006/main"/>
        </p:blipFill>
        <p:spPr>
          <a:xfrm xmlns:a="http://schemas.openxmlformats.org/drawingml/2006/main">
            <a:off x="666750" y="1411288"/>
            <a:ext cx="10858500" cy="4464050"/>
          </a:xfrm>
          <a:prstGeom xmlns:a="http://schemas.openxmlformats.org/drawingml/2006/main" prst="rect">
            <a:avLst/>
          </a:prstGeom>
        </p:spPr>
      </p:pic>
    </p:spTree>
    <p:extLst>
      <p:ext uri="{BB962C8B-B14F-4D97-AF65-F5344CB8AC3E}">
        <p14:creationId xmlns:p14="http://schemas.microsoft.com/office/powerpoint/2010/main" val="47979923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DC3CF1A-0933-4027-8B58-3DCBF3150B0A}"/>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D4DFE9A5-A1EC-4192-816C-C69DCE246AA6}"/>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D72293-752D-4DC1-89C2-27F8B670ECFE}"/>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‏محیط آزمایش SDN</a:t>
            </a:r>
          </a:p>
        </p:txBody>
      </p:sp>
      <p:sp>
        <p:nvSpPr>
          <p:cNvPr id="4" name="">
            <a:extLst xmlns:a="http://schemas.openxmlformats.org/drawingml/2006/main">
              <a:ext uri="{FF2B5EF4-FFF2-40B4-BE49-F238E27FC236}">
                <a16:creationId xmlns:a16="http://schemas.microsoft.com/office/drawing/2014/main" id="{09E15470-F7D4-4B02-B648-F557629EA47D}"/>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‏توپولوژی کنترل‌شده با یک سوئیچ و سه میزبان</a:t>
            </a:r>
          </a:p>
        </p:txBody>
      </p:sp>
      <p:sp>
        <p:nvSpPr>
          <p:cNvPr id="5" name="">
            <a:extLst xmlns:a="http://schemas.openxmlformats.org/drawingml/2006/main">
              <a:ext uri="{FF2B5EF4-FFF2-40B4-BE49-F238E27FC236}">
                <a16:creationId xmlns:a16="http://schemas.microsoft.com/office/drawing/2014/main" id="{37FBCE74-D129-4700-9B3C-C5A1585B4E4A}"/>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07</a:t>
            </a:r>
          </a:p>
        </p:txBody>
      </p:sp>
      <p:sp>
        <p:nvSpPr>
          <p:cNvPr id="6" name="">
            <a:extLst xmlns:a="http://schemas.openxmlformats.org/drawingml/2006/main">
              <a:ext uri="{FF2B5EF4-FFF2-40B4-BE49-F238E27FC236}">
                <a16:creationId xmlns:a16="http://schemas.microsoft.com/office/drawing/2014/main" id="{F37D709B-1F9F-42DA-810C-5BE703ADAB16}"/>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543B706D-7A15-49CA-AB6A-3F8BCEDBB50B}"/>
              </a:ext>
            </a:extLst>
          </p:cNvPr>
          <p:cNvSpPr>
            <a:spLocks xmlns:a="http://schemas.openxmlformats.org/drawingml/2006/main" noGrp="1"/>
          </p:cNvSpPr>
          <p:nvPr/>
        </p:nvSpPr>
        <p:spPr>
          <a:xfrm xmlns:a="http://schemas.openxmlformats.org/drawingml/2006/main">
            <a:off x="4333875" y="1428750"/>
            <a:ext cx="3524250" cy="1000125"/>
          </a:xfrm>
          <a:prstGeom xmlns:a="http://schemas.openxmlformats.org/drawingml/2006/main" prst="roundRect">
            <a:avLst>
              <a:gd name="adj" fmla="val 17143"/>
            </a:avLst>
          </a:prstGeom>
          <a:solidFill xmlns:a="http://schemas.openxmlformats.org/drawingml/2006/main">
            <a:srgbClr val="E7F4F1"/>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800" b="1">
                <a:solidFill>
                  <a:srgbClr val="17202A"/>
                </a:solidFill>
                <a:latin typeface="Noto Sans Arabic"/>
                <a:ea typeface="Noto Sans Arabic"/>
                <a:cs typeface="Noto Sans Arabic"/>
              </a:defRPr>
            </a:pPr>
            <a:r>
              <a:rPr sz="1800" b="1">
                <a:solidFill>
                  <a:srgbClr val="17202A"/>
                </a:solidFill>
                <a:latin typeface="Noto Sans Arabic"/>
                <a:ea typeface="Noto Sans Arabic"/>
                <a:cs typeface="Noto Sans Arabic"/>
              </a:rPr>
              <a:t>‏کنترل‌کننده POX</a:t>
            </a:r>
          </a:p>
          <a:p xmlns:a="http://schemas.openxmlformats.org/drawingml/2006/main">
            <a:pPr algn="ctr">
              <a:buNone/>
              <a:defRPr sz="1800" b="1">
                <a:solidFill>
                  <a:srgbClr val="17202A"/>
                </a:solidFill>
                <a:latin typeface="Noto Sans Arabic"/>
                <a:ea typeface="Noto Sans Arabic"/>
                <a:cs typeface="Noto Sans Arabic"/>
              </a:defRPr>
            </a:pPr>
            <a:r>
              <a:rPr sz="1800" b="1">
                <a:solidFill>
                  <a:srgbClr val="17202A"/>
                </a:solidFill>
                <a:latin typeface="Noto Sans Arabic"/>
                <a:ea typeface="Noto Sans Arabic"/>
                <a:cs typeface="Noto Sans Arabic"/>
              </a:rPr>
              <a:t>127.0.0.1:6633</a:t>
            </a:r>
          </a:p>
        </p:txBody>
      </p:sp>
      <p:sp>
        <p:nvSpPr>
          <p:cNvPr id="8" name="">
            <a:extLst xmlns:a="http://schemas.openxmlformats.org/drawingml/2006/main">
              <a:ext uri="{FF2B5EF4-FFF2-40B4-BE49-F238E27FC236}">
                <a16:creationId xmlns:a16="http://schemas.microsoft.com/office/drawing/2014/main" id="{A3BE7015-1A12-4E33-9245-A32CB7CEBB00}"/>
              </a:ext>
            </a:extLst>
          </p:cNvPr>
          <p:cNvSpPr>
            <a:spLocks xmlns:a="http://schemas.openxmlformats.org/drawingml/2006/main" noGrp="1"/>
          </p:cNvSpPr>
          <p:nvPr/>
        </p:nvSpPr>
        <p:spPr>
          <a:xfrm xmlns:a="http://schemas.openxmlformats.org/drawingml/2006/main">
            <a:off x="4333875" y="3048000"/>
            <a:ext cx="3524250" cy="1047750"/>
          </a:xfrm>
          <a:prstGeom xmlns:a="http://schemas.openxmlformats.org/drawingml/2006/main" prst="roundRect">
            <a:avLst>
              <a:gd name="adj" fmla="val 16364"/>
            </a:avLst>
          </a:prstGeom>
          <a:solidFill xmlns:a="http://schemas.openxmlformats.org/drawingml/2006/main">
            <a:srgbClr val="EAF2F8"/>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725" b="1">
                <a:solidFill>
                  <a:srgbClr val="17202A"/>
                </a:solidFill>
                <a:latin typeface="Noto Sans Arabic"/>
                <a:ea typeface="Noto Sans Arabic"/>
                <a:cs typeface="Noto Sans Arabic"/>
              </a:defRPr>
            </a:pPr>
            <a:r>
              <a:rPr sz="1725" b="1">
                <a:solidFill>
                  <a:srgbClr val="17202A"/>
                </a:solidFill>
                <a:latin typeface="Noto Sans Arabic"/>
                <a:ea typeface="Noto Sans Arabic"/>
                <a:cs typeface="Noto Sans Arabic"/>
              </a:rPr>
              <a:t>‏سوئیچ OVS  s1</a:t>
            </a:r>
          </a:p>
          <a:p xmlns:a="http://schemas.openxmlformats.org/drawingml/2006/main">
            <a:pPr algn="ctr">
              <a:buNone/>
              <a:defRPr sz="1725" b="1">
                <a:solidFill>
                  <a:srgbClr val="17202A"/>
                </a:solidFill>
                <a:latin typeface="Noto Sans Arabic"/>
                <a:ea typeface="Noto Sans Arabic"/>
                <a:cs typeface="Noto Sans Arabic"/>
              </a:defRPr>
            </a:pPr>
            <a:r>
              <a:rPr sz="1725" b="1">
                <a:solidFill>
                  <a:srgbClr val="17202A"/>
                </a:solidFill>
                <a:latin typeface="Noto Sans Arabic"/>
                <a:ea typeface="Noto Sans Arabic"/>
                <a:cs typeface="Noto Sans Arabic"/>
              </a:rPr>
              <a:t>محل جمع‌آوری شمارنده‌های جریان</a:t>
            </a:r>
          </a:p>
        </p:txBody>
      </p:sp>
      <p:sp>
        <p:nvSpPr>
          <p:cNvPr id="9" name="">
            <a:extLst xmlns:a="http://schemas.openxmlformats.org/drawingml/2006/main">
              <a:ext uri="{FF2B5EF4-FFF2-40B4-BE49-F238E27FC236}">
                <a16:creationId xmlns:a16="http://schemas.microsoft.com/office/drawing/2014/main" id="{F1F00A6E-4B3A-41E6-9C6D-0D02A5048AE6}"/>
              </a:ext>
            </a:extLst>
          </p:cNvPr>
          <p:cNvSpPr>
            <a:spLocks xmlns:a="http://schemas.openxmlformats.org/drawingml/2006/main" noGrp="1"/>
          </p:cNvSpPr>
          <p:nvPr/>
        </p:nvSpPr>
        <p:spPr>
          <a:xfrm xmlns:a="http://schemas.openxmlformats.org/drawingml/2006/main">
            <a:off x="8572500" y="4905375"/>
            <a:ext cx="2476500" cy="952500"/>
          </a:xfrm>
          <a:prstGeom xmlns:a="http://schemas.openxmlformats.org/drawingml/2006/main" prst="roundRect">
            <a:avLst>
              <a:gd name="adj" fmla="val 18000"/>
            </a:avLst>
          </a:prstGeom>
          <a:solidFill xmlns:a="http://schemas.openxmlformats.org/drawingml/2006/main">
            <a:srgbClr val="FFF3E2"/>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‏h1</a:t>
            </a:r>
          </a:p>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منبع عادی و ICMP پرنرخ</a:t>
            </a:r>
          </a:p>
        </p:txBody>
      </p:sp>
      <p:sp>
        <p:nvSpPr>
          <p:cNvPr id="10" name="">
            <a:extLst xmlns:a="http://schemas.openxmlformats.org/drawingml/2006/main">
              <a:ext uri="{FF2B5EF4-FFF2-40B4-BE49-F238E27FC236}">
                <a16:creationId xmlns:a16="http://schemas.microsoft.com/office/drawing/2014/main" id="{CABF0BD9-94E7-4691-B397-D7D1057FF144}"/>
              </a:ext>
            </a:extLst>
          </p:cNvPr>
          <p:cNvSpPr>
            <a:spLocks xmlns:a="http://schemas.openxmlformats.org/drawingml/2006/main" noGrp="1"/>
          </p:cNvSpPr>
          <p:nvPr/>
        </p:nvSpPr>
        <p:spPr>
          <a:xfrm xmlns:a="http://schemas.openxmlformats.org/drawingml/2006/main">
            <a:off x="4857750" y="4905375"/>
            <a:ext cx="2476500" cy="9525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‏h2</a:t>
            </a:r>
          </a:p>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مقصد ترافیک</a:t>
            </a:r>
          </a:p>
        </p:txBody>
      </p:sp>
      <p:sp>
        <p:nvSpPr>
          <p:cNvPr id="11" name="">
            <a:extLst xmlns:a="http://schemas.openxmlformats.org/drawingml/2006/main">
              <a:ext uri="{FF2B5EF4-FFF2-40B4-BE49-F238E27FC236}">
                <a16:creationId xmlns:a16="http://schemas.microsoft.com/office/drawing/2014/main" id="{7A539339-A6C8-446A-95BA-2B57C6ADD2EF}"/>
              </a:ext>
            </a:extLst>
          </p:cNvPr>
          <p:cNvSpPr>
            <a:spLocks xmlns:a="http://schemas.openxmlformats.org/drawingml/2006/main" noGrp="1"/>
          </p:cNvSpPr>
          <p:nvPr/>
        </p:nvSpPr>
        <p:spPr>
          <a:xfrm xmlns:a="http://schemas.openxmlformats.org/drawingml/2006/main">
            <a:off x="1143000" y="4905375"/>
            <a:ext cx="2476500" cy="952500"/>
          </a:xfrm>
          <a:prstGeom xmlns:a="http://schemas.openxmlformats.org/drawingml/2006/main" prst="roundRect">
            <a:avLst>
              <a:gd name="adj" fmla="val 18000"/>
            </a:avLst>
          </a:prstGeom>
          <a:solidFill xmlns:a="http://schemas.openxmlformats.org/drawingml/2006/main">
            <a:srgbClr val="E7F4F1"/>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‏h3</a:t>
            </a:r>
          </a:p>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منبع عادی مستقل</a:t>
            </a:r>
          </a:p>
        </p:txBody>
      </p:sp>
      <p:cxnSp>
        <p:nvCxnSpPr>
          <p:cNvPr id="43" name=""/>
          <p:cNvCxnSpPr>
            <a:stCxn xmlns:a="http://schemas.openxmlformats.org/drawingml/2006/main" id="7" idx="2"/>
            <a:endCxn xmlns:a="http://schemas.openxmlformats.org/drawingml/2006/main" id="8" idx="0"/>
          </p:cNvCxnSpPr>
          <p:nvPr/>
        </p:nvCxnSpPr>
        <p:spPr>
          <a:xfrm xmlns:a="http://schemas.openxmlformats.org/drawingml/2006/main">
            <a:off x="6096000" y="2428875"/>
            <a:ext cx="0" cy="619125"/>
          </a:xfrm>
          <a:prstGeom xmlns:a="http://schemas.openxmlformats.org/drawingml/2006/main" prst="straightConnector1">
            <a:avLst/>
          </a:prstGeom>
          <a:ln xmlns:a="http://schemas.openxmlformats.org/drawingml/2006/main" w="28575">
            <a:solidFill>
              <a:srgbClr val="2B6A97"/>
            </a:solidFill>
            <a:prstDash val="solid"/>
            <a:tailEnd type="triangle" w="sm" len="sm"/>
          </a:ln>
        </p:spPr>
      </p:cxnSp>
      <p:cxnSp>
        <p:nvCxnSpPr>
          <p:cNvPr id="44" name=""/>
          <p:cNvCxnSpPr>
            <a:stCxn xmlns:a="http://schemas.openxmlformats.org/drawingml/2006/main" id="8" idx="2"/>
            <a:endCxn xmlns:a="http://schemas.openxmlformats.org/drawingml/2006/main" id="9" idx="0"/>
          </p:cNvCxnSpPr>
          <p:nvPr/>
        </p:nvCxnSpPr>
        <p:spPr>
          <a:xfrm xmlns:a="http://schemas.openxmlformats.org/drawingml/2006/main">
            <a:off x="6096000" y="4095750"/>
            <a:ext cx="3714750" cy="809625"/>
          </a:xfrm>
          <a:prstGeom xmlns:a="http://schemas.openxmlformats.org/drawingml/2006/main" prst="bentConnector4">
            <a:avLst>
              <a:gd name="adj1" fmla="val 0"/>
              <a:gd name="adj2" fmla="val 50000"/>
            </a:avLst>
          </a:prstGeom>
          <a:ln xmlns:a="http://schemas.openxmlformats.org/drawingml/2006/main" w="28575">
            <a:solidFill>
              <a:srgbClr val="2B6A97"/>
            </a:solidFill>
            <a:prstDash val="solid"/>
            <a:tailEnd type="triangle" w="sm" len="sm"/>
          </a:ln>
        </p:spPr>
      </p:cxnSp>
      <p:cxnSp>
        <p:nvCxnSpPr>
          <p:cNvPr id="45" name=""/>
          <p:cNvCxnSpPr>
            <a:stCxn xmlns:a="http://schemas.openxmlformats.org/drawingml/2006/main" id="8" idx="2"/>
            <a:endCxn xmlns:a="http://schemas.openxmlformats.org/drawingml/2006/main" id="10" idx="0"/>
          </p:cNvCxnSpPr>
          <p:nvPr/>
        </p:nvCxnSpPr>
        <p:spPr>
          <a:xfrm xmlns:a="http://schemas.openxmlformats.org/drawingml/2006/main">
            <a:off x="6096000" y="4095750"/>
            <a:ext cx="0" cy="809625"/>
          </a:xfrm>
          <a:prstGeom xmlns:a="http://schemas.openxmlformats.org/drawingml/2006/main" prst="straightConnector1">
            <a:avLst/>
          </a:prstGeom>
          <a:ln xmlns:a="http://schemas.openxmlformats.org/drawingml/2006/main" w="28575">
            <a:solidFill>
              <a:srgbClr val="2B6A97"/>
            </a:solidFill>
            <a:prstDash val="solid"/>
            <a:tailEnd type="triangle" w="sm" len="sm"/>
          </a:ln>
        </p:spPr>
      </p:cxnSp>
      <p:cxnSp>
        <p:nvCxnSpPr>
          <p:cNvPr id="46" name=""/>
          <p:cNvCxnSpPr>
            <a:stCxn xmlns:a="http://schemas.openxmlformats.org/drawingml/2006/main" id="8" idx="2"/>
            <a:endCxn xmlns:a="http://schemas.openxmlformats.org/drawingml/2006/main" id="11" idx="0"/>
          </p:cNvCxnSpPr>
          <p:nvPr/>
        </p:nvCxnSpPr>
        <p:spPr>
          <a:xfrm xmlns:a="http://schemas.openxmlformats.org/drawingml/2006/main" flipH="1">
            <a:off x="2381250" y="4095750"/>
            <a:ext cx="3714750" cy="809625"/>
          </a:xfrm>
          <a:prstGeom xmlns:a="http://schemas.openxmlformats.org/drawingml/2006/main" prst="bentConnector4">
            <a:avLst>
              <a:gd name="adj1" fmla="val 0"/>
              <a:gd name="adj2" fmla="val 50000"/>
            </a:avLst>
          </a:prstGeom>
          <a:ln xmlns:a="http://schemas.openxmlformats.org/drawingml/2006/main" w="28575">
            <a:solidFill>
              <a:srgbClr val="2B6A97"/>
            </a:solidFill>
            <a:prstDash val="solid"/>
            <a:tailEnd type="triangle" w="sm" len="sm"/>
          </a:ln>
        </p:spPr>
      </p:cxnSp>
      <p:sp>
        <p:nvSpPr>
          <p:cNvPr id="16" name="">
            <a:extLst xmlns:a="http://schemas.openxmlformats.org/drawingml/2006/main">
              <a:ext uri="{FF2B5EF4-FFF2-40B4-BE49-F238E27FC236}">
                <a16:creationId xmlns:a16="http://schemas.microsoft.com/office/drawing/2014/main" id="{DAF93B69-BB23-4A39-A690-3092833D6E57}"/>
              </a:ext>
            </a:extLst>
          </p:cNvPr>
          <p:cNvSpPr>
            <a:spLocks xmlns:a="http://schemas.openxmlformats.org/drawingml/2006/main" noGrp="1"/>
          </p:cNvSpPr>
          <p:nvPr/>
        </p:nvSpPr>
        <p:spPr>
          <a:xfrm xmlns:a="http://schemas.openxmlformats.org/drawingml/2006/main">
            <a:off x="2000250" y="42100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425" b="0">
                <a:solidFill>
                  <a:srgbClr val="52606D"/>
                </a:solidFill>
                <a:latin typeface="Noto Sans"/>
                <a:ea typeface="Noto Sans"/>
                <a:cs typeface="Noto Sans"/>
              </a:defRPr>
            </a:pPr>
            <a:r>
              <a:rPr sz="1425" b="0">
                <a:solidFill>
                  <a:srgbClr val="52606D"/>
                </a:solidFill>
                <a:latin typeface="Noto Sans"/>
                <a:ea typeface="Noto Sans"/>
                <a:cs typeface="Noto Sans"/>
              </a:rPr>
              <a:t>‏Ubuntu VM  |  Mininet  |  Open vSwitch 3.7.1  |  OpenFlow 1.0</a:t>
            </a:r>
          </a:p>
        </p:txBody>
      </p:sp>
    </p:spTree>
    <p:extLst>
      <p:ext uri="{BB962C8B-B14F-4D97-AF65-F5344CB8AC3E}">
        <p14:creationId xmlns:p14="http://schemas.microsoft.com/office/powerpoint/2010/main" val="71458032"/>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111BB29-1A0C-4CC5-AA89-0D91F24B1A3D}"/>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1747E754-D080-4488-ADE2-4BBE9683DE45}"/>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9D80A2-8160-44B1-AC2F-A2766B647B00}"/>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‏داده‌ها و ویژگی‌های ورودی</a:t>
            </a:r>
          </a:p>
        </p:txBody>
      </p:sp>
      <p:sp>
        <p:nvSpPr>
          <p:cNvPr id="4" name="">
            <a:extLst xmlns:a="http://schemas.openxmlformats.org/drawingml/2006/main">
              <a:ext uri="{FF2B5EF4-FFF2-40B4-BE49-F238E27FC236}">
                <a16:creationId xmlns:a16="http://schemas.microsoft.com/office/drawing/2014/main" id="{B6F101C1-E9BE-4FA6-BE04-4E2EACD53BDC}"/>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‏سه ویژگی سبک از شمارنده‌های OpenFlow</a:t>
            </a:r>
          </a:p>
        </p:txBody>
      </p:sp>
      <p:sp>
        <p:nvSpPr>
          <p:cNvPr id="5" name="">
            <a:extLst xmlns:a="http://schemas.openxmlformats.org/drawingml/2006/main">
              <a:ext uri="{FF2B5EF4-FFF2-40B4-BE49-F238E27FC236}">
                <a16:creationId xmlns:a16="http://schemas.microsoft.com/office/drawing/2014/main" id="{6E21F9B9-C7FD-4AEC-AA3E-CE20E3DF3424}"/>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08</a:t>
            </a:r>
          </a:p>
        </p:txBody>
      </p:sp>
      <p:sp>
        <p:nvSpPr>
          <p:cNvPr id="6" name="">
            <a:extLst xmlns:a="http://schemas.openxmlformats.org/drawingml/2006/main">
              <a:ext uri="{FF2B5EF4-FFF2-40B4-BE49-F238E27FC236}">
                <a16:creationId xmlns:a16="http://schemas.microsoft.com/office/drawing/2014/main" id="{392100DC-06B2-4ED2-BAE6-2EA5FC5EC25B}"/>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0F803F2E-3058-44C2-939D-E07C05135C5A}"/>
              </a:ext>
            </a:extLst>
          </p:cNvPr>
          <p:cNvSpPr>
            <a:spLocks xmlns:a="http://schemas.openxmlformats.org/drawingml/2006/main" noGrp="1"/>
          </p:cNvSpPr>
          <p:nvPr/>
        </p:nvSpPr>
        <p:spPr>
          <a:xfrm xmlns:a="http://schemas.openxmlformats.org/drawingml/2006/main">
            <a:off x="7905750" y="1571625"/>
            <a:ext cx="3333750" cy="781050"/>
          </a:xfrm>
          <a:prstGeom xmlns:a="http://schemas.openxmlformats.org/drawingml/2006/main" prst="roundRect">
            <a:avLst>
              <a:gd name="adj" fmla="val 21951"/>
            </a:avLst>
          </a:prstGeom>
          <a:solidFill xmlns:a="http://schemas.openxmlformats.org/drawingml/2006/main">
            <a:srgbClr val="163F63"/>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packets_rate</a:t>
            </a:r>
          </a:p>
        </p:txBody>
      </p:sp>
      <p:sp>
        <p:nvSpPr>
          <p:cNvPr id="8" name="">
            <a:extLst xmlns:a="http://schemas.openxmlformats.org/drawingml/2006/main">
              <a:ext uri="{FF2B5EF4-FFF2-40B4-BE49-F238E27FC236}">
                <a16:creationId xmlns:a16="http://schemas.microsoft.com/office/drawing/2014/main" id="{3E63F7DB-E1E8-46B7-BAAB-7BF4BAF6027D}"/>
              </a:ext>
            </a:extLst>
          </p:cNvPr>
          <p:cNvSpPr>
            <a:spLocks xmlns:a="http://schemas.openxmlformats.org/drawingml/2006/main" noGrp="1"/>
          </p:cNvSpPr>
          <p:nvPr/>
        </p:nvSpPr>
        <p:spPr>
          <a:xfrm xmlns:a="http://schemas.openxmlformats.org/drawingml/2006/main">
            <a:off x="5334000" y="15906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‏نرخ بسته</a:t>
            </a:r>
          </a:p>
        </p:txBody>
      </p:sp>
      <p:sp>
        <p:nvSpPr>
          <p:cNvPr id="9" name="">
            <a:extLst xmlns:a="http://schemas.openxmlformats.org/drawingml/2006/main">
              <a:ext uri="{FF2B5EF4-FFF2-40B4-BE49-F238E27FC236}">
                <a16:creationId xmlns:a16="http://schemas.microsoft.com/office/drawing/2014/main" id="{21E9F438-0830-4FAA-9C9D-8C4090225D88}"/>
              </a:ext>
            </a:extLst>
          </p:cNvPr>
          <p:cNvSpPr>
            <a:spLocks xmlns:a="http://schemas.openxmlformats.org/drawingml/2006/main" noGrp="1"/>
          </p:cNvSpPr>
          <p:nvPr/>
        </p:nvSpPr>
        <p:spPr>
          <a:xfrm xmlns:a="http://schemas.openxmlformats.org/drawingml/2006/main">
            <a:off x="1238250" y="1924050"/>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00" b="0">
                <a:solidFill>
                  <a:srgbClr val="52606D"/>
                </a:solidFill>
                <a:latin typeface="Noto Sans Arabic"/>
                <a:ea typeface="Noto Sans Arabic"/>
                <a:cs typeface="Noto Sans Arabic"/>
              </a:defRPr>
            </a:pPr>
            <a:r>
              <a:rPr sz="1500" b="0">
                <a:solidFill>
                  <a:srgbClr val="52606D"/>
                </a:solidFill>
                <a:latin typeface="Noto Sans Arabic"/>
                <a:ea typeface="Noto Sans Arabic"/>
                <a:cs typeface="Noto Sans Arabic"/>
              </a:rPr>
              <a:t>‏تعداد بسته در واحد زمان</a:t>
            </a:r>
          </a:p>
        </p:txBody>
      </p:sp>
      <p:sp>
        <p:nvSpPr>
          <p:cNvPr id="10" name="">
            <a:extLst xmlns:a="http://schemas.openxmlformats.org/drawingml/2006/main">
              <a:ext uri="{FF2B5EF4-FFF2-40B4-BE49-F238E27FC236}">
                <a16:creationId xmlns:a16="http://schemas.microsoft.com/office/drawing/2014/main" id="{211687F7-9259-4312-93B6-9F6355D1AAE8}"/>
              </a:ext>
            </a:extLst>
          </p:cNvPr>
          <p:cNvSpPr>
            <a:spLocks xmlns:a="http://schemas.openxmlformats.org/drawingml/2006/main" noGrp="1"/>
          </p:cNvSpPr>
          <p:nvPr/>
        </p:nvSpPr>
        <p:spPr>
          <a:xfrm xmlns:a="http://schemas.openxmlformats.org/drawingml/2006/main">
            <a:off x="7905750" y="2809875"/>
            <a:ext cx="3333750" cy="781050"/>
          </a:xfrm>
          <a:prstGeom xmlns:a="http://schemas.openxmlformats.org/drawingml/2006/main" prst="roundRect">
            <a:avLst>
              <a:gd name="adj" fmla="val 21951"/>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bytes_rate</a:t>
            </a:r>
          </a:p>
        </p:txBody>
      </p:sp>
      <p:sp>
        <p:nvSpPr>
          <p:cNvPr id="11" name="">
            <a:extLst xmlns:a="http://schemas.openxmlformats.org/drawingml/2006/main">
              <a:ext uri="{FF2B5EF4-FFF2-40B4-BE49-F238E27FC236}">
                <a16:creationId xmlns:a16="http://schemas.microsoft.com/office/drawing/2014/main" id="{537CF8AA-37B4-484F-8014-8F68430AD43C}"/>
              </a:ext>
            </a:extLst>
          </p:cNvPr>
          <p:cNvSpPr>
            <a:spLocks xmlns:a="http://schemas.openxmlformats.org/drawingml/2006/main" noGrp="1"/>
          </p:cNvSpPr>
          <p:nvPr/>
        </p:nvSpPr>
        <p:spPr>
          <a:xfrm xmlns:a="http://schemas.openxmlformats.org/drawingml/2006/main">
            <a:off x="5334000" y="282892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‏نرخ بایت</a:t>
            </a:r>
          </a:p>
        </p:txBody>
      </p:sp>
      <p:sp>
        <p:nvSpPr>
          <p:cNvPr id="12" name="">
            <a:extLst xmlns:a="http://schemas.openxmlformats.org/drawingml/2006/main">
              <a:ext uri="{FF2B5EF4-FFF2-40B4-BE49-F238E27FC236}">
                <a16:creationId xmlns:a16="http://schemas.microsoft.com/office/drawing/2014/main" id="{A5ECCCAA-4458-468B-8BC8-87CFB48395DB}"/>
              </a:ext>
            </a:extLst>
          </p:cNvPr>
          <p:cNvSpPr>
            <a:spLocks xmlns:a="http://schemas.openxmlformats.org/drawingml/2006/main" noGrp="1"/>
          </p:cNvSpPr>
          <p:nvPr/>
        </p:nvSpPr>
        <p:spPr>
          <a:xfrm xmlns:a="http://schemas.openxmlformats.org/drawingml/2006/main">
            <a:off x="1238250" y="3162300"/>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00" b="0">
                <a:solidFill>
                  <a:srgbClr val="52606D"/>
                </a:solidFill>
                <a:latin typeface="Noto Sans Arabic"/>
                <a:ea typeface="Noto Sans Arabic"/>
                <a:cs typeface="Noto Sans Arabic"/>
              </a:defRPr>
            </a:pPr>
            <a:r>
              <a:rPr sz="1500" b="0">
                <a:solidFill>
                  <a:srgbClr val="52606D"/>
                </a:solidFill>
                <a:latin typeface="Noto Sans Arabic"/>
                <a:ea typeface="Noto Sans Arabic"/>
                <a:cs typeface="Noto Sans Arabic"/>
              </a:rPr>
              <a:t>‏حجم داده در واحد زمان</a:t>
            </a:r>
          </a:p>
        </p:txBody>
      </p:sp>
      <p:sp>
        <p:nvSpPr>
          <p:cNvPr id="13" name="">
            <a:extLst xmlns:a="http://schemas.openxmlformats.org/drawingml/2006/main">
              <a:ext uri="{FF2B5EF4-FFF2-40B4-BE49-F238E27FC236}">
                <a16:creationId xmlns:a16="http://schemas.microsoft.com/office/drawing/2014/main" id="{A51C4886-E5E9-4950-95A4-5D123ABF3B2C}"/>
              </a:ext>
            </a:extLst>
          </p:cNvPr>
          <p:cNvSpPr>
            <a:spLocks xmlns:a="http://schemas.openxmlformats.org/drawingml/2006/main" noGrp="1"/>
          </p:cNvSpPr>
          <p:nvPr/>
        </p:nvSpPr>
        <p:spPr>
          <a:xfrm xmlns:a="http://schemas.openxmlformats.org/drawingml/2006/main">
            <a:off x="7905750" y="4048125"/>
            <a:ext cx="3333750" cy="781050"/>
          </a:xfrm>
          <a:prstGeom xmlns:a="http://schemas.openxmlformats.org/drawingml/2006/main" prst="roundRect">
            <a:avLst>
              <a:gd name="adj" fmla="val 21951"/>
            </a:avLst>
          </a:prstGeom>
          <a:solidFill xmlns:a="http://schemas.openxmlformats.org/drawingml/2006/main">
            <a:srgbClr val="2B6A97"/>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ea typeface="Noto Sans"/>
                <a:cs typeface="Noto Sans"/>
              </a:defRPr>
            </a:pPr>
            <a:r>
              <a:rPr sz="1875" b="1">
                <a:solidFill>
                  <a:srgbClr val="FFFFFF"/>
                </a:solidFill>
                <a:latin typeface="Noto Sans"/>
                <a:ea typeface="Noto Sans"/>
                <a:cs typeface="Noto Sans"/>
              </a:rPr>
              <a:t>duration_sec</a:t>
            </a:r>
          </a:p>
        </p:txBody>
      </p:sp>
      <p:sp>
        <p:nvSpPr>
          <p:cNvPr id="14" name="">
            <a:extLst xmlns:a="http://schemas.openxmlformats.org/drawingml/2006/main">
              <a:ext uri="{FF2B5EF4-FFF2-40B4-BE49-F238E27FC236}">
                <a16:creationId xmlns:a16="http://schemas.microsoft.com/office/drawing/2014/main" id="{4D72AC8B-6052-417D-8616-C0708A11A31E}"/>
              </a:ext>
            </a:extLst>
          </p:cNvPr>
          <p:cNvSpPr>
            <a:spLocks xmlns:a="http://schemas.openxmlformats.org/drawingml/2006/main" noGrp="1"/>
          </p:cNvSpPr>
          <p:nvPr/>
        </p:nvSpPr>
        <p:spPr>
          <a:xfrm xmlns:a="http://schemas.openxmlformats.org/drawingml/2006/main">
            <a:off x="5334000" y="40671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1">
                <a:solidFill>
                  <a:srgbClr val="163F63"/>
                </a:solidFill>
                <a:latin typeface="Noto Sans Arabic"/>
                <a:ea typeface="Noto Sans Arabic"/>
                <a:cs typeface="Noto Sans Arabic"/>
              </a:defRPr>
            </a:pPr>
            <a:r>
              <a:rPr sz="1875" b="1">
                <a:solidFill>
                  <a:srgbClr val="163F63"/>
                </a:solidFill>
                <a:latin typeface="Noto Sans Arabic"/>
                <a:ea typeface="Noto Sans Arabic"/>
                <a:cs typeface="Noto Sans Arabic"/>
              </a:rPr>
              <a:t>‏مدت جریان</a:t>
            </a:r>
          </a:p>
        </p:txBody>
      </p:sp>
      <p:sp>
        <p:nvSpPr>
          <p:cNvPr id="15" name="">
            <a:extLst xmlns:a="http://schemas.openxmlformats.org/drawingml/2006/main">
              <a:ext uri="{FF2B5EF4-FFF2-40B4-BE49-F238E27FC236}">
                <a16:creationId xmlns:a16="http://schemas.microsoft.com/office/drawing/2014/main" id="{74F7D19A-8033-476E-946A-6F76BB0328CE}"/>
              </a:ext>
            </a:extLst>
          </p:cNvPr>
          <p:cNvSpPr>
            <a:spLocks xmlns:a="http://schemas.openxmlformats.org/drawingml/2006/main" noGrp="1"/>
          </p:cNvSpPr>
          <p:nvPr/>
        </p:nvSpPr>
        <p:spPr>
          <a:xfrm xmlns:a="http://schemas.openxmlformats.org/drawingml/2006/main">
            <a:off x="1238250" y="4400550"/>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00" b="0">
                <a:solidFill>
                  <a:srgbClr val="52606D"/>
                </a:solidFill>
                <a:latin typeface="Noto Sans Arabic"/>
                <a:ea typeface="Noto Sans Arabic"/>
                <a:cs typeface="Noto Sans Arabic"/>
              </a:defRPr>
            </a:pPr>
            <a:r>
              <a:rPr sz="1500" b="0">
                <a:solidFill>
                  <a:srgbClr val="52606D"/>
                </a:solidFill>
                <a:latin typeface="Noto Sans Arabic"/>
                <a:ea typeface="Noto Sans Arabic"/>
                <a:cs typeface="Noto Sans Arabic"/>
              </a:rPr>
              <a:t>‏طول عمر مشاهده‌شده جریان</a:t>
            </a:r>
          </a:p>
        </p:txBody>
      </p:sp>
      <p:sp>
        <p:nvSpPr>
          <p:cNvPr id="16" name="">
            <a:extLst xmlns:a="http://schemas.openxmlformats.org/drawingml/2006/main">
              <a:ext uri="{FF2B5EF4-FFF2-40B4-BE49-F238E27FC236}">
                <a16:creationId xmlns:a16="http://schemas.microsoft.com/office/drawing/2014/main" id="{5C698128-6450-441A-8464-4F4577061404}"/>
              </a:ext>
            </a:extLst>
          </p:cNvPr>
          <p:cNvSpPr>
            <a:spLocks xmlns:a="http://schemas.openxmlformats.org/drawingml/2006/main" noGrp="1"/>
          </p:cNvSpPr>
          <p:nvPr/>
        </p:nvSpPr>
        <p:spPr>
          <a:xfrm xmlns:a="http://schemas.openxmlformats.org/drawingml/2006/main">
            <a:off x="1238250" y="5334000"/>
            <a:ext cx="10001250" cy="590550"/>
          </a:xfrm>
          <a:prstGeom xmlns:a="http://schemas.openxmlformats.org/drawingml/2006/main" prst="roundRect">
            <a:avLst>
              <a:gd name="adj" fmla="val 25806"/>
            </a:avLst>
          </a:prstGeom>
          <a:solidFill xmlns:a="http://schemas.openxmlformats.org/drawingml/2006/main">
            <a:srgbClr val="EAF2F8"/>
          </a:solidFill>
          <a:ln xmlns:a="http://schemas.openxmlformats.org/drawingml/2006/main" w="14288">
            <a:solidFill>
              <a:srgbClr val="C9D8E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1">
                <a:solidFill>
                  <a:srgbClr val="17202A"/>
                </a:solidFill>
                <a:latin typeface="Noto Sans Arabic"/>
                <a:ea typeface="Noto Sans Arabic"/>
                <a:cs typeface="Noto Sans Arabic"/>
              </a:defRPr>
            </a:pPr>
            <a:r>
              <a:rPr sz="1725" b="1">
                <a:solidFill>
                  <a:srgbClr val="17202A"/>
                </a:solidFill>
                <a:latin typeface="Noto Sans Arabic"/>
                <a:ea typeface="Noto Sans Arabic"/>
                <a:cs typeface="Noto Sans Arabic"/>
              </a:rPr>
              <a:t>‏پیش‌پردازش: حذف رکوردهای نامعتبر، محاسبه اختلاف شمارنده‌ها، تبدیل به نرخ و استانداردسازی با StandardScaler</a:t>
            </a:r>
          </a:p>
        </p:txBody>
      </p:sp>
    </p:spTree>
    <p:extLst>
      <p:ext uri="{BB962C8B-B14F-4D97-AF65-F5344CB8AC3E}">
        <p14:creationId xmlns:p14="http://schemas.microsoft.com/office/powerpoint/2010/main" val="79043595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1EDB3F-00EC-4416-9D2A-AE65605A1E46}"/>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4407BE55-243C-46AB-B06A-94887DE0919C}"/>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00E37D-174E-406E-9B8E-5545A7B9816E}"/>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‏انتخاب پارامترهای DBSCAN</a:t>
            </a:r>
          </a:p>
        </p:txBody>
      </p:sp>
      <p:sp>
        <p:nvSpPr>
          <p:cNvPr id="4" name="">
            <a:extLst xmlns:a="http://schemas.openxmlformats.org/drawingml/2006/main">
              <a:ext uri="{FF2B5EF4-FFF2-40B4-BE49-F238E27FC236}">
                <a16:creationId xmlns:a16="http://schemas.microsoft.com/office/drawing/2014/main" id="{80B7913B-63FC-468E-B001-E171D04EBB00}"/>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‏منحنی فاصله همسایه پنجم و تحلیل حساسیت</a:t>
            </a:r>
          </a:p>
        </p:txBody>
      </p:sp>
      <p:sp>
        <p:nvSpPr>
          <p:cNvPr id="5" name="">
            <a:extLst xmlns:a="http://schemas.openxmlformats.org/drawingml/2006/main">
              <a:ext uri="{FF2B5EF4-FFF2-40B4-BE49-F238E27FC236}">
                <a16:creationId xmlns:a16="http://schemas.microsoft.com/office/drawing/2014/main" id="{52BAD443-F527-4B69-AA8A-8CAD0FB0EC11}"/>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09</a:t>
            </a:r>
          </a:p>
        </p:txBody>
      </p:sp>
      <p:sp>
        <p:nvSpPr>
          <p:cNvPr id="6" name="">
            <a:extLst xmlns:a="http://schemas.openxmlformats.org/drawingml/2006/main">
              <a:ext uri="{FF2B5EF4-FFF2-40B4-BE49-F238E27FC236}">
                <a16:creationId xmlns:a16="http://schemas.microsoft.com/office/drawing/2014/main" id="{077AD1A9-E7AC-4BB3-BF30-5E0F095754D9}"/>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b939d3314ba42bb"/>
          <a:stretch xmlns:a="http://schemas.openxmlformats.org/drawingml/2006/main"/>
        </p:blipFill>
        <p:spPr>
          <a:xfrm xmlns:a="http://schemas.openxmlformats.org/drawingml/2006/main">
            <a:off x="576995" y="1476375"/>
            <a:ext cx="7418510" cy="4286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2A6B80-C0AC-444D-987A-1A99039908BD}"/>
              </a:ext>
            </a:extLst>
          </p:cNvPr>
          <p:cNvSpPr>
            <a:spLocks xmlns:a="http://schemas.openxmlformats.org/drawingml/2006/main" noGrp="1"/>
          </p:cNvSpPr>
          <p:nvPr/>
        </p:nvSpPr>
        <p:spPr>
          <a:xfrm xmlns:a="http://schemas.openxmlformats.org/drawingml/2006/main">
            <a:off x="8334375" y="1619250"/>
            <a:ext cx="2857500" cy="571500"/>
          </a:xfrm>
          <a:prstGeom xmlns:a="http://schemas.openxmlformats.org/drawingml/2006/main" prst="roundRect">
            <a:avLst>
              <a:gd name="adj" fmla="val 26667"/>
            </a:avLst>
          </a:prstGeom>
          <a:solidFill xmlns:a="http://schemas.openxmlformats.org/drawingml/2006/main">
            <a:srgbClr val="163F63"/>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2175" b="1">
                <a:solidFill>
                  <a:srgbClr val="FFFFFF"/>
                </a:solidFill>
                <a:latin typeface="Noto Sans"/>
                <a:ea typeface="Noto Sans"/>
                <a:cs typeface="Noto Sans"/>
              </a:defRPr>
            </a:pPr>
            <a:r>
              <a:rPr sz="2175" b="1">
                <a:solidFill>
                  <a:srgbClr val="FFFFFF"/>
                </a:solidFill>
                <a:latin typeface="Noto Sans"/>
                <a:ea typeface="Noto Sans"/>
                <a:cs typeface="Noto Sans"/>
              </a:rPr>
              <a:t>min_samples = 5</a:t>
            </a:r>
          </a:p>
        </p:txBody>
      </p:sp>
      <p:sp>
        <p:nvSpPr>
          <p:cNvPr id="9" name="">
            <a:extLst xmlns:a="http://schemas.openxmlformats.org/drawingml/2006/main">
              <a:ext uri="{FF2B5EF4-FFF2-40B4-BE49-F238E27FC236}">
                <a16:creationId xmlns:a16="http://schemas.microsoft.com/office/drawing/2014/main" id="{73AD71A7-2C8A-4C94-914A-78118704DF17}"/>
              </a:ext>
            </a:extLst>
          </p:cNvPr>
          <p:cNvSpPr>
            <a:spLocks xmlns:a="http://schemas.openxmlformats.org/drawingml/2006/main" noGrp="1"/>
          </p:cNvSpPr>
          <p:nvPr/>
        </p:nvSpPr>
        <p:spPr>
          <a:xfrm xmlns:a="http://schemas.openxmlformats.org/drawingml/2006/main">
            <a:off x="8334375" y="25241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0F766E"/>
                </a:solidFill>
                <a:latin typeface="Noto Sans Arabic"/>
                <a:ea typeface="Noto Sans Arabic"/>
                <a:cs typeface="Noto Sans Arabic"/>
              </a:defRPr>
            </a:pPr>
            <a:r>
              <a:rPr sz="1875" b="1">
                <a:solidFill>
                  <a:srgbClr val="0F766E"/>
                </a:solidFill>
                <a:latin typeface="Noto Sans Arabic"/>
                <a:ea typeface="Noto Sans Arabic"/>
                <a:cs typeface="Noto Sans Arabic"/>
              </a:rPr>
              <a:t>‏بازه بررسی eps</a:t>
            </a:r>
          </a:p>
        </p:txBody>
      </p:sp>
      <p:sp>
        <p:nvSpPr>
          <p:cNvPr id="10" name="">
            <a:extLst xmlns:a="http://schemas.openxmlformats.org/drawingml/2006/main">
              <a:ext uri="{FF2B5EF4-FFF2-40B4-BE49-F238E27FC236}">
                <a16:creationId xmlns:a16="http://schemas.microsoft.com/office/drawing/2014/main" id="{380C7689-6440-4B7E-8F3D-C41BDE338E35}"/>
              </a:ext>
            </a:extLst>
          </p:cNvPr>
          <p:cNvSpPr>
            <a:spLocks xmlns:a="http://schemas.openxmlformats.org/drawingml/2006/main" noGrp="1"/>
          </p:cNvSpPr>
          <p:nvPr/>
        </p:nvSpPr>
        <p:spPr>
          <a:xfrm xmlns:a="http://schemas.openxmlformats.org/drawingml/2006/main">
            <a:off x="8334375" y="3000375"/>
            <a:ext cx="2857500" cy="857250"/>
          </a:xfrm>
          <a:prstGeom xmlns:a="http://schemas.openxmlformats.org/drawingml/2006/main" prst="roundRect">
            <a:avLst>
              <a:gd name="adj" fmla="val 17778"/>
            </a:avLst>
          </a:prstGeom>
          <a:solidFill xmlns:a="http://schemas.openxmlformats.org/drawingml/2006/main">
            <a:srgbClr val="E7F4F1"/>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17202A"/>
                </a:solidFill>
                <a:latin typeface="Noto Sans"/>
                <a:ea typeface="Noto Sans"/>
                <a:cs typeface="Noto Sans"/>
              </a:defRPr>
            </a:pPr>
            <a:r>
              <a:rPr sz="1875" b="1">
                <a:solidFill>
                  <a:srgbClr val="17202A"/>
                </a:solidFill>
                <a:latin typeface="Noto Sans"/>
                <a:ea typeface="Noto Sans"/>
                <a:cs typeface="Noto Sans"/>
              </a:rPr>
              <a:t>0.28   0.31   0.35</a:t>
            </a:r>
          </a:p>
          <a:p xmlns:a="http://schemas.openxmlformats.org/drawingml/2006/main">
            <a:pPr algn="ctr">
              <a:buNone/>
              <a:defRPr sz="1875" b="1">
                <a:solidFill>
                  <a:srgbClr val="17202A"/>
                </a:solidFill>
                <a:latin typeface="Noto Sans"/>
                <a:ea typeface="Noto Sans"/>
                <a:cs typeface="Noto Sans"/>
              </a:defRPr>
            </a:pPr>
            <a:r>
              <a:rPr sz="1875" b="1">
                <a:solidFill>
                  <a:srgbClr val="17202A"/>
                </a:solidFill>
                <a:latin typeface="Noto Sans"/>
                <a:ea typeface="Noto Sans"/>
                <a:cs typeface="Noto Sans"/>
              </a:rPr>
              <a:t>0.40   0.43   0.46</a:t>
            </a:r>
          </a:p>
        </p:txBody>
      </p:sp>
      <p:sp>
        <p:nvSpPr>
          <p:cNvPr id="11" name="">
            <a:extLst xmlns:a="http://schemas.openxmlformats.org/drawingml/2006/main">
              <a:ext uri="{FF2B5EF4-FFF2-40B4-BE49-F238E27FC236}">
                <a16:creationId xmlns:a16="http://schemas.microsoft.com/office/drawing/2014/main" id="{194BAD55-D26B-47AC-A47A-17951DFA7FE4}"/>
              </a:ext>
            </a:extLst>
          </p:cNvPr>
          <p:cNvSpPr>
            <a:spLocks xmlns:a="http://schemas.openxmlformats.org/drawingml/2006/main" noGrp="1"/>
          </p:cNvSpPr>
          <p:nvPr/>
        </p:nvSpPr>
        <p:spPr>
          <a:xfrm xmlns:a="http://schemas.openxmlformats.org/drawingml/2006/main">
            <a:off x="8191500" y="4238625"/>
            <a:ext cx="3143250" cy="1285875"/>
          </a:xfrm>
          <a:prstGeom xmlns:a="http://schemas.openxmlformats.org/drawingml/2006/main" prst="roundRect">
            <a:avLst>
              <a:gd name="adj" fmla="val 11852"/>
            </a:avLst>
          </a:prstGeom>
          <a:solidFill xmlns:a="http://schemas.openxmlformats.org/drawingml/2006/main">
            <a:srgbClr val="FFF3E2"/>
          </a:solidFill>
          <a:ln xmlns:a="http://schemas.openxmlformats.org/drawingml/2006/main" w="14288">
            <a:solidFill>
              <a:srgbClr val="F0C98A"/>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725" b="0">
                <a:solidFill>
                  <a:srgbClr val="17202A"/>
                </a:solidFill>
                <a:latin typeface="Noto Sans Arabic"/>
                <a:ea typeface="Noto Sans Arabic"/>
                <a:cs typeface="Noto Sans Arabic"/>
              </a:defRPr>
            </a:pPr>
            <a:r>
              <a:rPr sz="1725" b="0">
                <a:solidFill>
                  <a:srgbClr val="17202A"/>
                </a:solidFill>
                <a:latin typeface="Noto Sans Arabic"/>
                <a:ea typeface="Noto Sans Arabic"/>
                <a:cs typeface="Noto Sans Arabic"/>
              </a:rPr>
              <a:t>‏مقدار ۰٫۲۸ برای آزمون مستقل انتخاب شد؛ چون جداسازی ترافیک پرنرخ را با مرز سخت‌گیرانه‌تری انجام می‌داد.</a:t>
            </a:r>
          </a:p>
        </p:txBody>
      </p:sp>
    </p:spTree>
    <p:extLst>
      <p:ext uri="{BB962C8B-B14F-4D97-AF65-F5344CB8AC3E}">
        <p14:creationId xmlns:p14="http://schemas.microsoft.com/office/powerpoint/2010/main" val="786285322"/>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B940F3-6E1D-46EC-A4BF-8E64EFEFFCF7}"/>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7453D056-9666-427D-BEC1-28B72D94B181}"/>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61BAE0-DC14-4C36-86A2-A1B540076D81}"/>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‏تحلیل اکتشافی خوشه‌ها</a:t>
            </a:r>
          </a:p>
        </p:txBody>
      </p:sp>
      <p:sp>
        <p:nvSpPr>
          <p:cNvPr id="4" name="">
            <a:extLst xmlns:a="http://schemas.openxmlformats.org/drawingml/2006/main">
              <a:ext uri="{FF2B5EF4-FFF2-40B4-BE49-F238E27FC236}">
                <a16:creationId xmlns:a16="http://schemas.microsoft.com/office/drawing/2014/main" id="{5E0A01B4-1235-4E00-933D-0C7744D579B0}"/>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‏سرنوشت ۳۶ نمونه ترافیک پرنرخ در مقادیر مختلف eps</a:t>
            </a:r>
          </a:p>
        </p:txBody>
      </p:sp>
      <p:sp>
        <p:nvSpPr>
          <p:cNvPr id="5" name="">
            <a:extLst xmlns:a="http://schemas.openxmlformats.org/drawingml/2006/main">
              <a:ext uri="{FF2B5EF4-FFF2-40B4-BE49-F238E27FC236}">
                <a16:creationId xmlns:a16="http://schemas.microsoft.com/office/drawing/2014/main" id="{CE4C112E-578F-4FC1-89D8-3FB84FE4BEC5}"/>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10</a:t>
            </a:r>
          </a:p>
        </p:txBody>
      </p:sp>
      <p:sp>
        <p:nvSpPr>
          <p:cNvPr id="6" name="">
            <a:extLst xmlns:a="http://schemas.openxmlformats.org/drawingml/2006/main">
              <a:ext uri="{FF2B5EF4-FFF2-40B4-BE49-F238E27FC236}">
                <a16:creationId xmlns:a16="http://schemas.microsoft.com/office/drawing/2014/main" id="{4D36C932-B384-471D-994C-44C873257009}"/>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graphicFrame>
        <p:nvGraphicFramePr>
          <p:cNvPr id="17" name="Chart"/>
          <p:cNvGraphicFramePr/>
          <p:nvPr/>
        </p:nvGraphicFramePr>
        <p:xfrm>
          <a:off xmlns:a="http://schemas.openxmlformats.org/drawingml/2006/main" x="714375" y="1524000"/>
          <a:ext xmlns:a="http://schemas.openxmlformats.org/drawingml/2006/main" cx="10715625" cy="4000500"/>
        </p:xfrm>
        <a:graphic xmlns:a="http://schemas.openxmlformats.org/drawingml/2006/main">
          <a:graphicData uri="http://schemas.openxmlformats.org/drawingml/2006/chart">
            <c:chart xmlns:r="http://schemas.openxmlformats.org/officeDocument/2006/relationships" xmlns:c="http://schemas.openxmlformats.org/drawingml/2006/chart" r:id="Rbfc68aeaee764cb0"/>
          </a:graphicData>
        </a:graphic>
      </p:graphicFrame>
      <p:sp>
        <p:nvSpPr>
          <p:cNvPr id="8" name="">
            <a:extLst xmlns:a="http://schemas.openxmlformats.org/drawingml/2006/main">
              <a:ext uri="{FF2B5EF4-FFF2-40B4-BE49-F238E27FC236}">
                <a16:creationId xmlns:a16="http://schemas.microsoft.com/office/drawing/2014/main" id="{E627FD25-E1EF-411B-8B9D-AA592475AD81}"/>
              </a:ext>
            </a:extLst>
          </p:cNvPr>
          <p:cNvSpPr>
            <a:spLocks xmlns:a="http://schemas.openxmlformats.org/drawingml/2006/main" noGrp="1"/>
          </p:cNvSpPr>
          <p:nvPr/>
        </p:nvSpPr>
        <p:spPr>
          <a:xfrm xmlns:a="http://schemas.openxmlformats.org/drawingml/2006/main">
            <a:off x="1619250" y="5619750"/>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575" b="1">
                <a:solidFill>
                  <a:srgbClr val="163F63"/>
                </a:solidFill>
                <a:latin typeface="Noto Sans Arabic"/>
                <a:ea typeface="Noto Sans Arabic"/>
                <a:cs typeface="Noto Sans Arabic"/>
              </a:defRPr>
            </a:pPr>
            <a:r>
              <a:rPr sz="1575" b="1">
                <a:solidFill>
                  <a:srgbClr val="163F63"/>
                </a:solidFill>
                <a:latin typeface="Noto Sans Arabic"/>
                <a:ea typeface="Noto Sans Arabic"/>
                <a:cs typeface="Noto Sans Arabic"/>
              </a:rPr>
              <a:t>‏در تمام مقادیر eps، دو خوشه غیرنویز تشکیل شد. با افزایش eps، نقاط بیشتری از حالت نویز به خوشه مستقل ترافیک پرنرخ منتقل شدند.</a:t>
            </a:r>
          </a:p>
        </p:txBody>
      </p:sp>
    </p:spTree>
    <p:extLst>
      <p:ext uri="{BB962C8B-B14F-4D97-AF65-F5344CB8AC3E}">
        <p14:creationId xmlns:p14="http://schemas.microsoft.com/office/powerpoint/2010/main" val="50217708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8796473-BAA6-42AB-BBC9-1BD7EC7D6B57}"/>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16A31483-4688-48AB-8D01-3F6AD615E4F0}"/>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6EB3082-5E15-4A04-8EE9-94996C195F5B}"/>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‏پروتکل ارزیابی مستقل</a:t>
            </a:r>
          </a:p>
        </p:txBody>
      </p:sp>
      <p:sp>
        <p:nvSpPr>
          <p:cNvPr id="4" name="">
            <a:extLst xmlns:a="http://schemas.openxmlformats.org/drawingml/2006/main">
              <a:ext uri="{FF2B5EF4-FFF2-40B4-BE49-F238E27FC236}">
                <a16:creationId xmlns:a16="http://schemas.microsoft.com/office/drawing/2014/main" id="{BDF114F6-A894-463D-A16E-F242ECEC5786}"/>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‏جداسازی کالیبراسیون از داده‌های آزمون</a:t>
            </a:r>
          </a:p>
        </p:txBody>
      </p:sp>
      <p:sp>
        <p:nvSpPr>
          <p:cNvPr id="5" name="">
            <a:extLst xmlns:a="http://schemas.openxmlformats.org/drawingml/2006/main">
              <a:ext uri="{FF2B5EF4-FFF2-40B4-BE49-F238E27FC236}">
                <a16:creationId xmlns:a16="http://schemas.microsoft.com/office/drawing/2014/main" id="{08141824-2AE2-4232-B8C8-BB722E42EA32}"/>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11</a:t>
            </a:r>
          </a:p>
        </p:txBody>
      </p:sp>
      <p:sp>
        <p:nvSpPr>
          <p:cNvPr id="6" name="">
            <a:extLst xmlns:a="http://schemas.openxmlformats.org/drawingml/2006/main">
              <a:ext uri="{FF2B5EF4-FFF2-40B4-BE49-F238E27FC236}">
                <a16:creationId xmlns:a16="http://schemas.microsoft.com/office/drawing/2014/main" id="{18FAA7D6-D7FC-4600-8A4D-E1B31683A12F}"/>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9918D22F-9541-4517-A774-4FECB0E86DCD}"/>
              </a:ext>
            </a:extLst>
          </p:cNvPr>
          <p:cNvSpPr>
            <a:spLocks xmlns:a="http://schemas.openxmlformats.org/drawingml/2006/main" noGrp="1"/>
          </p:cNvSpPr>
          <p:nvPr/>
        </p:nvSpPr>
        <p:spPr>
          <a:xfrm xmlns:a="http://schemas.openxmlformats.org/drawingml/2006/main">
            <a:off x="8572500" y="2381250"/>
            <a:ext cx="2571750" cy="1190625"/>
          </a:xfrm>
          <a:prstGeom xmlns:a="http://schemas.openxmlformats.org/drawingml/2006/main" prst="roundRect">
            <a:avLst>
              <a:gd name="adj" fmla="val 14400"/>
            </a:avLst>
          </a:prstGeom>
          <a:solidFill xmlns:a="http://schemas.openxmlformats.org/drawingml/2006/main">
            <a:srgbClr val="E7F4F1"/>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‏کالیبراسیون عادی</a:t>
            </a:r>
          </a:p>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برازش scaler و DBSCAN</a:t>
            </a:r>
          </a:p>
        </p:txBody>
      </p:sp>
      <p:sp>
        <p:nvSpPr>
          <p:cNvPr id="8" name="">
            <a:extLst xmlns:a="http://schemas.openxmlformats.org/drawingml/2006/main">
              <a:ext uri="{FF2B5EF4-FFF2-40B4-BE49-F238E27FC236}">
                <a16:creationId xmlns:a16="http://schemas.microsoft.com/office/drawing/2014/main" id="{BF3088CF-D94F-431F-850B-AB5B337CE7F1}"/>
              </a:ext>
            </a:extLst>
          </p:cNvPr>
          <p:cNvSpPr>
            <a:spLocks xmlns:a="http://schemas.openxmlformats.org/drawingml/2006/main" noGrp="1"/>
          </p:cNvSpPr>
          <p:nvPr/>
        </p:nvSpPr>
        <p:spPr>
          <a:xfrm xmlns:a="http://schemas.openxmlformats.org/drawingml/2006/main">
            <a:off x="5762625" y="2381250"/>
            <a:ext cx="2381250" cy="1190625"/>
          </a:xfrm>
          <a:prstGeom xmlns:a="http://schemas.openxmlformats.org/drawingml/2006/main" prst="roundRect">
            <a:avLst>
              <a:gd name="adj" fmla="val 14400"/>
            </a:avLst>
          </a:prstGeom>
          <a:solidFill xmlns:a="http://schemas.openxmlformats.org/drawingml/2006/main">
            <a:srgbClr val="EAF2F8"/>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‏مدل نقاط هسته‌ای</a:t>
            </a:r>
          </a:p>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ذخیره نمونه‌های مرجع</a:t>
            </a:r>
          </a:p>
        </p:txBody>
      </p:sp>
      <p:sp>
        <p:nvSpPr>
          <p:cNvPr id="9" name="">
            <a:extLst xmlns:a="http://schemas.openxmlformats.org/drawingml/2006/main">
              <a:ext uri="{FF2B5EF4-FFF2-40B4-BE49-F238E27FC236}">
                <a16:creationId xmlns:a16="http://schemas.microsoft.com/office/drawing/2014/main" id="{C1E117AF-7E5D-4781-B70B-F2E15668401F}"/>
              </a:ext>
            </a:extLst>
          </p:cNvPr>
          <p:cNvSpPr>
            <a:spLocks xmlns:a="http://schemas.openxmlformats.org/drawingml/2006/main" noGrp="1"/>
          </p:cNvSpPr>
          <p:nvPr/>
        </p:nvSpPr>
        <p:spPr>
          <a:xfrm xmlns:a="http://schemas.openxmlformats.org/drawingml/2006/main">
            <a:off x="3048000" y="1571625"/>
            <a:ext cx="2190750" cy="1000125"/>
          </a:xfrm>
          <a:prstGeom xmlns:a="http://schemas.openxmlformats.org/drawingml/2006/main" prst="roundRect">
            <a:avLst>
              <a:gd name="adj" fmla="val 17143"/>
            </a:avLst>
          </a:prstGeom>
          <a:solidFill xmlns:a="http://schemas.openxmlformats.org/drawingml/2006/main">
            <a:srgbClr val="E7F4F1"/>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‏آزمون عادی</a:t>
            </a:r>
          </a:p>
          <a:p xmlns:a="http://schemas.openxmlformats.org/drawingml/2006/main">
            <a:pPr algn="ctr">
              <a:buNone/>
              <a:defRPr sz="1650" b="1">
                <a:solidFill>
                  <a:srgbClr val="17202A"/>
                </a:solidFill>
                <a:latin typeface="Noto Sans Arabic"/>
                <a:ea typeface="Noto Sans Arabic"/>
                <a:cs typeface="Noto Sans Arabic"/>
              </a:defRPr>
            </a:pPr>
            <a:r>
              <a:rPr sz="1650" b="1">
                <a:solidFill>
                  <a:srgbClr val="17202A"/>
                </a:solidFill>
                <a:latin typeface="Noto Sans Arabic"/>
                <a:ea typeface="Noto Sans Arabic"/>
                <a:cs typeface="Noto Sans Arabic"/>
              </a:rPr>
              <a:t>اجرای مستقل</a:t>
            </a:r>
          </a:p>
        </p:txBody>
      </p:sp>
      <p:sp>
        <p:nvSpPr>
          <p:cNvPr id="10" name="">
            <a:extLst xmlns:a="http://schemas.openxmlformats.org/drawingml/2006/main">
              <a:ext uri="{FF2B5EF4-FFF2-40B4-BE49-F238E27FC236}">
                <a16:creationId xmlns:a16="http://schemas.microsoft.com/office/drawing/2014/main" id="{DEF1A1F1-A442-4187-B903-3BCCCDD9B0B2}"/>
              </a:ext>
            </a:extLst>
          </p:cNvPr>
          <p:cNvSpPr>
            <a:spLocks xmlns:a="http://schemas.openxmlformats.org/drawingml/2006/main" noGrp="1"/>
          </p:cNvSpPr>
          <p:nvPr/>
        </p:nvSpPr>
        <p:spPr>
          <a:xfrm xmlns:a="http://schemas.openxmlformats.org/drawingml/2006/main">
            <a:off x="3048000" y="3381375"/>
            <a:ext cx="2190750" cy="1000125"/>
          </a:xfrm>
          <a:prstGeom xmlns:a="http://schemas.openxmlformats.org/drawingml/2006/main" prst="roundRect">
            <a:avLst>
              <a:gd name="adj" fmla="val 17143"/>
            </a:avLst>
          </a:prstGeom>
          <a:solidFill xmlns:a="http://schemas.openxmlformats.org/drawingml/2006/main">
            <a:srgbClr val="FFF3E2"/>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‏آزمون ICMP پرنرخ</a:t>
            </a:r>
          </a:p>
          <a:p xmlns:a="http://schemas.openxmlformats.org/drawingml/2006/main">
            <a:pPr algn="ctr">
              <a:buNone/>
              <a:defRPr sz="1575" b="1">
                <a:solidFill>
                  <a:srgbClr val="17202A"/>
                </a:solidFill>
                <a:latin typeface="Noto Sans Arabic"/>
                <a:ea typeface="Noto Sans Arabic"/>
                <a:cs typeface="Noto Sans Arabic"/>
              </a:defRPr>
            </a:pPr>
            <a:r>
              <a:rPr sz="1575" b="1">
                <a:solidFill>
                  <a:srgbClr val="17202A"/>
                </a:solidFill>
                <a:latin typeface="Noto Sans Arabic"/>
                <a:ea typeface="Noto Sans Arabic"/>
                <a:cs typeface="Noto Sans Arabic"/>
              </a:rPr>
              <a:t>اجرای مستقل</a:t>
            </a:r>
          </a:p>
        </p:txBody>
      </p:sp>
      <p:sp>
        <p:nvSpPr>
          <p:cNvPr id="11" name="">
            <a:extLst xmlns:a="http://schemas.openxmlformats.org/drawingml/2006/main">
              <a:ext uri="{FF2B5EF4-FFF2-40B4-BE49-F238E27FC236}">
                <a16:creationId xmlns:a16="http://schemas.microsoft.com/office/drawing/2014/main" id="{3062CD7A-7B15-4A6B-950B-06A506262D60}"/>
              </a:ext>
            </a:extLst>
          </p:cNvPr>
          <p:cNvSpPr>
            <a:spLocks xmlns:a="http://schemas.openxmlformats.org/drawingml/2006/main" noGrp="1"/>
          </p:cNvSpPr>
          <p:nvPr/>
        </p:nvSpPr>
        <p:spPr>
          <a:xfrm xmlns:a="http://schemas.openxmlformats.org/drawingml/2006/main">
            <a:off x="714375" y="2381250"/>
            <a:ext cx="2000250" cy="1190625"/>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19050">
            <a:solidFill>
              <a:srgbClr val="2B6A9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7202A"/>
                </a:solidFill>
                <a:latin typeface="Noto Sans Arabic"/>
                <a:ea typeface="Noto Sans Arabic"/>
                <a:cs typeface="Noto Sans Arabic"/>
              </a:defRPr>
            </a:pPr>
            <a:r>
              <a:rPr sz="1500" b="1">
                <a:solidFill>
                  <a:srgbClr val="17202A"/>
                </a:solidFill>
                <a:latin typeface="Noto Sans Arabic"/>
                <a:ea typeface="Noto Sans Arabic"/>
                <a:cs typeface="Noto Sans Arabic"/>
              </a:rPr>
              <a:t>‏تصمیم</a:t>
            </a:r>
          </a:p>
          <a:p xmlns:a="http://schemas.openxmlformats.org/drawingml/2006/main">
            <a:pPr algn="ctr">
              <a:buNone/>
              <a:defRPr sz="1500" b="1">
                <a:solidFill>
                  <a:srgbClr val="17202A"/>
                </a:solidFill>
                <a:latin typeface="Noto Sans Arabic"/>
                <a:ea typeface="Noto Sans Arabic"/>
                <a:cs typeface="Noto Sans Arabic"/>
              </a:defRPr>
            </a:pPr>
            <a:r>
              <a:rPr sz="1500" b="1">
                <a:solidFill>
                  <a:srgbClr val="17202A"/>
                </a:solidFill>
                <a:latin typeface="Noto Sans Arabic"/>
                <a:ea typeface="Noto Sans Arabic"/>
                <a:cs typeface="Noto Sans Arabic"/>
              </a:rPr>
              <a:t>فاصله تا نزدیک‌ترین هسته &gt; eps</a:t>
            </a:r>
          </a:p>
        </p:txBody>
      </p:sp>
      <p:cxnSp>
        <p:nvCxnSpPr>
          <p:cNvPr id="45" name=""/>
          <p:cNvCxnSpPr>
            <a:stCxn xmlns:a="http://schemas.openxmlformats.org/drawingml/2006/main" id="7" idx="1"/>
            <a:endCxn xmlns:a="http://schemas.openxmlformats.org/drawingml/2006/main" id="8" idx="3"/>
          </p:cNvCxnSpPr>
          <p:nvPr/>
        </p:nvCxnSpPr>
        <p:spPr>
          <a:xfrm xmlns:a="http://schemas.openxmlformats.org/drawingml/2006/main" flipH="1">
            <a:off x="8143875" y="2976563"/>
            <a:ext cx="428625" cy="0"/>
          </a:xfrm>
          <a:prstGeom xmlns:a="http://schemas.openxmlformats.org/drawingml/2006/main" prst="straightConnector1">
            <a:avLst/>
          </a:prstGeom>
          <a:ln xmlns:a="http://schemas.openxmlformats.org/drawingml/2006/main" w="28575">
            <a:solidFill>
              <a:srgbClr val="2B6A97"/>
            </a:solidFill>
            <a:prstDash val="solid"/>
            <a:tailEnd type="triangle" w="sm" len="sm"/>
          </a:ln>
        </p:spPr>
      </p:cxnSp>
      <p:cxnSp>
        <p:nvCxnSpPr>
          <p:cNvPr id="46" name=""/>
          <p:cNvCxnSpPr>
            <a:stCxn xmlns:a="http://schemas.openxmlformats.org/drawingml/2006/main" id="8" idx="1"/>
            <a:endCxn xmlns:a="http://schemas.openxmlformats.org/drawingml/2006/main" id="9" idx="3"/>
          </p:cNvCxnSpPr>
          <p:nvPr/>
        </p:nvCxnSpPr>
        <p:spPr>
          <a:xfrm xmlns:a="http://schemas.openxmlformats.org/drawingml/2006/main" flipH="1" flipV="1">
            <a:off x="5238750" y="2071688"/>
            <a:ext cx="523875" cy="904875"/>
          </a:xfrm>
          <a:prstGeom xmlns:a="http://schemas.openxmlformats.org/drawingml/2006/main" prst="bentConnector3">
            <a:avLst>
              <a:gd name="adj1" fmla="val 50000"/>
            </a:avLst>
          </a:prstGeom>
          <a:ln xmlns:a="http://schemas.openxmlformats.org/drawingml/2006/main" w="28575">
            <a:solidFill>
              <a:srgbClr val="2B6A97"/>
            </a:solidFill>
            <a:prstDash val="solid"/>
            <a:tailEnd type="triangle" w="sm" len="sm"/>
          </a:ln>
        </p:spPr>
      </p:cxnSp>
      <p:cxnSp>
        <p:nvCxnSpPr>
          <p:cNvPr id="47" name=""/>
          <p:cNvCxnSpPr>
            <a:stCxn xmlns:a="http://schemas.openxmlformats.org/drawingml/2006/main" id="8" idx="1"/>
            <a:endCxn xmlns:a="http://schemas.openxmlformats.org/drawingml/2006/main" id="10" idx="3"/>
          </p:cNvCxnSpPr>
          <p:nvPr/>
        </p:nvCxnSpPr>
        <p:spPr>
          <a:xfrm xmlns:a="http://schemas.openxmlformats.org/drawingml/2006/main" flipH="1">
            <a:off x="5238750" y="2976563"/>
            <a:ext cx="523875" cy="904875"/>
          </a:xfrm>
          <a:prstGeom xmlns:a="http://schemas.openxmlformats.org/drawingml/2006/main" prst="bentConnector3">
            <a:avLst>
              <a:gd name="adj1" fmla="val 50000"/>
            </a:avLst>
          </a:prstGeom>
          <a:ln xmlns:a="http://schemas.openxmlformats.org/drawingml/2006/main" w="28575">
            <a:solidFill>
              <a:srgbClr val="2B6A97"/>
            </a:solidFill>
            <a:prstDash val="solid"/>
            <a:tailEnd type="triangle" w="sm" len="sm"/>
          </a:ln>
        </p:spPr>
      </p:cxnSp>
      <p:cxnSp>
        <p:nvCxnSpPr>
          <p:cNvPr id="48" name=""/>
          <p:cNvCxnSpPr>
            <a:stCxn xmlns:a="http://schemas.openxmlformats.org/drawingml/2006/main" id="9" idx="1"/>
            <a:endCxn xmlns:a="http://schemas.openxmlformats.org/drawingml/2006/main" id="11" idx="3"/>
          </p:cNvCxnSpPr>
          <p:nvPr/>
        </p:nvCxnSpPr>
        <p:spPr>
          <a:xfrm xmlns:a="http://schemas.openxmlformats.org/drawingml/2006/main" flipH="1">
            <a:off x="2714625" y="2071688"/>
            <a:ext cx="333375" cy="904875"/>
          </a:xfrm>
          <a:prstGeom xmlns:a="http://schemas.openxmlformats.org/drawingml/2006/main" prst="bentConnector3">
            <a:avLst>
              <a:gd name="adj1" fmla="val 50000"/>
            </a:avLst>
          </a:prstGeom>
          <a:ln xmlns:a="http://schemas.openxmlformats.org/drawingml/2006/main" w="28575">
            <a:solidFill>
              <a:srgbClr val="2B6A97"/>
            </a:solidFill>
            <a:prstDash val="solid"/>
            <a:tailEnd type="triangle" w="sm" len="sm"/>
          </a:ln>
        </p:spPr>
      </p:cxnSp>
      <p:cxnSp>
        <p:nvCxnSpPr>
          <p:cNvPr id="49" name=""/>
          <p:cNvCxnSpPr>
            <a:stCxn xmlns:a="http://schemas.openxmlformats.org/drawingml/2006/main" id="10" idx="1"/>
            <a:endCxn xmlns:a="http://schemas.openxmlformats.org/drawingml/2006/main" id="11" idx="3"/>
          </p:cNvCxnSpPr>
          <p:nvPr/>
        </p:nvCxnSpPr>
        <p:spPr>
          <a:xfrm xmlns:a="http://schemas.openxmlformats.org/drawingml/2006/main" flipH="1" flipV="1">
            <a:off x="2714625" y="2976563"/>
            <a:ext cx="333375" cy="904875"/>
          </a:xfrm>
          <a:prstGeom xmlns:a="http://schemas.openxmlformats.org/drawingml/2006/main" prst="bentConnector3">
            <a:avLst>
              <a:gd name="adj1" fmla="val 50000"/>
            </a:avLst>
          </a:prstGeom>
          <a:ln xmlns:a="http://schemas.openxmlformats.org/drawingml/2006/main" w="28575">
            <a:solidFill>
              <a:srgbClr val="2B6A97"/>
            </a:solidFill>
            <a:prstDash val="solid"/>
            <a:tailEnd type="triangle" w="sm" len="sm"/>
          </a:ln>
        </p:spPr>
      </p:cxnSp>
      <p:sp>
        <p:nvSpPr>
          <p:cNvPr id="17" name="">
            <a:extLst xmlns:a="http://schemas.openxmlformats.org/drawingml/2006/main">
              <a:ext uri="{FF2B5EF4-FFF2-40B4-BE49-F238E27FC236}">
                <a16:creationId xmlns:a16="http://schemas.microsoft.com/office/drawing/2014/main" id="{BB2D6CBA-33E5-4D6F-BA98-7C145A0E8BF8}"/>
              </a:ext>
            </a:extLst>
          </p:cNvPr>
          <p:cNvSpPr>
            <a:spLocks xmlns:a="http://schemas.openxmlformats.org/drawingml/2006/main" noGrp="1"/>
          </p:cNvSpPr>
          <p:nvPr/>
        </p:nvSpPr>
        <p:spPr>
          <a:xfrm xmlns:a="http://schemas.openxmlformats.org/drawingml/2006/main">
            <a:off x="2095500" y="5095875"/>
            <a:ext cx="8001000" cy="590550"/>
          </a:xfrm>
          <a:prstGeom xmlns:a="http://schemas.openxmlformats.org/drawingml/2006/main" prst="roundRect">
            <a:avLst>
              <a:gd name="adj" fmla="val 25806"/>
            </a:avLst>
          </a:prstGeom>
          <a:solidFill xmlns:a="http://schemas.openxmlformats.org/drawingml/2006/main">
            <a:srgbClr val="EAF2F8"/>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1">
                <a:solidFill>
                  <a:srgbClr val="163F63"/>
                </a:solidFill>
                <a:latin typeface="Noto Sans Arabic"/>
                <a:ea typeface="Noto Sans Arabic"/>
                <a:cs typeface="Noto Sans Arabic"/>
              </a:defRPr>
            </a:pPr>
            <a:r>
              <a:rPr sz="1725" b="1">
                <a:solidFill>
                  <a:srgbClr val="163F63"/>
                </a:solidFill>
                <a:latin typeface="Noto Sans Arabic"/>
                <a:ea typeface="Noto Sans Arabic"/>
                <a:cs typeface="Noto Sans Arabic"/>
              </a:rPr>
              <a:t>‏برچسب واقعی فقط پس از پیش‌بینی برای محاسبه معیارهای عملکرد استفاده شد.</a:t>
            </a:r>
          </a:p>
        </p:txBody>
      </p:sp>
    </p:spTree>
    <p:extLst>
      <p:ext uri="{BB962C8B-B14F-4D97-AF65-F5344CB8AC3E}">
        <p14:creationId xmlns:p14="http://schemas.microsoft.com/office/powerpoint/2010/main" val="117199153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F28F94-D148-43CF-96FA-EC2039168D1C}"/>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0B63795C-9C05-403C-8CEA-8BE1FF178EED}"/>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375A11-B040-439F-B61C-215686D94BB0}"/>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‏طراحی آزمایش تأییدی</a:t>
            </a:r>
          </a:p>
        </p:txBody>
      </p:sp>
      <p:sp>
        <p:nvSpPr>
          <p:cNvPr id="4" name="">
            <a:extLst xmlns:a="http://schemas.openxmlformats.org/drawingml/2006/main">
              <a:ext uri="{FF2B5EF4-FFF2-40B4-BE49-F238E27FC236}">
                <a16:creationId xmlns:a16="http://schemas.microsoft.com/office/drawing/2014/main" id="{8FAE9540-3899-4AA0-935A-C763D14E7640}"/>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‏چهار تکرار مستقل و ۸۹۶ نمونه آزمون</a:t>
            </a:r>
          </a:p>
        </p:txBody>
      </p:sp>
      <p:sp>
        <p:nvSpPr>
          <p:cNvPr id="5" name="">
            <a:extLst xmlns:a="http://schemas.openxmlformats.org/drawingml/2006/main">
              <a:ext uri="{FF2B5EF4-FFF2-40B4-BE49-F238E27FC236}">
                <a16:creationId xmlns:a16="http://schemas.microsoft.com/office/drawing/2014/main" id="{5079538B-E01A-4A08-96BD-B2D48314F0C2}"/>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12</a:t>
            </a:r>
          </a:p>
        </p:txBody>
      </p:sp>
      <p:sp>
        <p:nvSpPr>
          <p:cNvPr id="6" name="">
            <a:extLst xmlns:a="http://schemas.openxmlformats.org/drawingml/2006/main">
              <a:ext uri="{FF2B5EF4-FFF2-40B4-BE49-F238E27FC236}">
                <a16:creationId xmlns:a16="http://schemas.microsoft.com/office/drawing/2014/main" id="{0FDC5B5A-5A09-4FFD-875E-98ED712BAB27}"/>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7C3CDBDB-5E28-4443-81FA-E21386432E09}"/>
              </a:ext>
            </a:extLst>
          </p:cNvPr>
          <p:cNvSpPr>
            <a:spLocks xmlns:a="http://schemas.openxmlformats.org/drawingml/2006/main" noGrp="1"/>
          </p:cNvSpPr>
          <p:nvPr/>
        </p:nvSpPr>
        <p:spPr>
          <a:xfrm xmlns:a="http://schemas.openxmlformats.org/drawingml/2006/main">
            <a:off x="8763000" y="1571625"/>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5100" b="1">
                <a:solidFill>
                  <a:srgbClr val="0F766E"/>
                </a:solidFill>
                <a:latin typeface="Noto Sans"/>
                <a:ea typeface="Noto Sans"/>
                <a:cs typeface="Noto Sans"/>
              </a:defRPr>
            </a:pPr>
            <a:r>
              <a:rPr sz="5100" b="1">
                <a:solidFill>
                  <a:srgbClr val="0F766E"/>
                </a:solidFill>
                <a:latin typeface="Noto Sans"/>
                <a:ea typeface="Noto Sans"/>
                <a:cs typeface="Noto Sans"/>
              </a:rPr>
              <a:t>4</a:t>
            </a:r>
          </a:p>
        </p:txBody>
      </p:sp>
      <p:sp>
        <p:nvSpPr>
          <p:cNvPr id="8" name="">
            <a:extLst xmlns:a="http://schemas.openxmlformats.org/drawingml/2006/main">
              <a:ext uri="{FF2B5EF4-FFF2-40B4-BE49-F238E27FC236}">
                <a16:creationId xmlns:a16="http://schemas.microsoft.com/office/drawing/2014/main" id="{CB84FE2A-B7C9-4635-A573-33F10432BD73}"/>
              </a:ext>
            </a:extLst>
          </p:cNvPr>
          <p:cNvSpPr>
            <a:spLocks xmlns:a="http://schemas.openxmlformats.org/drawingml/2006/main" noGrp="1"/>
          </p:cNvSpPr>
          <p:nvPr/>
        </p:nvSpPr>
        <p:spPr>
          <a:xfrm xmlns:a="http://schemas.openxmlformats.org/drawingml/2006/main">
            <a:off x="8001000" y="25717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‏تکرار مستقل</a:t>
            </a:r>
          </a:p>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اجراهای ۰۲ تا ۰۵</a:t>
            </a:r>
          </a:p>
        </p:txBody>
      </p:sp>
      <p:sp>
        <p:nvSpPr>
          <p:cNvPr id="9" name="">
            <a:extLst xmlns:a="http://schemas.openxmlformats.org/drawingml/2006/main">
              <a:ext uri="{FF2B5EF4-FFF2-40B4-BE49-F238E27FC236}">
                <a16:creationId xmlns:a16="http://schemas.microsoft.com/office/drawing/2014/main" id="{CA380E4C-57FF-421F-A8E3-FA729CF75836}"/>
              </a:ext>
            </a:extLst>
          </p:cNvPr>
          <p:cNvSpPr>
            <a:spLocks xmlns:a="http://schemas.openxmlformats.org/drawingml/2006/main" noGrp="1"/>
          </p:cNvSpPr>
          <p:nvPr/>
        </p:nvSpPr>
        <p:spPr>
          <a:xfrm xmlns:a="http://schemas.openxmlformats.org/drawingml/2006/main">
            <a:off x="5048250" y="1571625"/>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5100" b="1">
                <a:solidFill>
                  <a:srgbClr val="2B6A97"/>
                </a:solidFill>
                <a:latin typeface="Noto Sans"/>
                <a:ea typeface="Noto Sans"/>
                <a:cs typeface="Noto Sans"/>
              </a:defRPr>
            </a:pPr>
            <a:r>
              <a:rPr sz="5100" b="1">
                <a:solidFill>
                  <a:srgbClr val="2B6A97"/>
                </a:solidFill>
                <a:latin typeface="Noto Sans"/>
                <a:ea typeface="Noto Sans"/>
                <a:cs typeface="Noto Sans"/>
              </a:rPr>
              <a:t>12</a:t>
            </a:r>
          </a:p>
        </p:txBody>
      </p:sp>
      <p:sp>
        <p:nvSpPr>
          <p:cNvPr id="10" name="">
            <a:extLst xmlns:a="http://schemas.openxmlformats.org/drawingml/2006/main">
              <a:ext uri="{FF2B5EF4-FFF2-40B4-BE49-F238E27FC236}">
                <a16:creationId xmlns:a16="http://schemas.microsoft.com/office/drawing/2014/main" id="{B1922277-E299-4C15-B69C-EF6559B16894}"/>
              </a:ext>
            </a:extLst>
          </p:cNvPr>
          <p:cNvSpPr>
            <a:spLocks xmlns:a="http://schemas.openxmlformats.org/drawingml/2006/main" noGrp="1"/>
          </p:cNvSpPr>
          <p:nvPr/>
        </p:nvSpPr>
        <p:spPr>
          <a:xfrm xmlns:a="http://schemas.openxmlformats.org/drawingml/2006/main">
            <a:off x="4381500" y="25717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‏اجرای تازه تولید ترافیک</a:t>
            </a:r>
          </a:p>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سه سناریو در هر تکرار</a:t>
            </a:r>
          </a:p>
        </p:txBody>
      </p:sp>
      <p:sp>
        <p:nvSpPr>
          <p:cNvPr id="11" name="">
            <a:extLst xmlns:a="http://schemas.openxmlformats.org/drawingml/2006/main">
              <a:ext uri="{FF2B5EF4-FFF2-40B4-BE49-F238E27FC236}">
                <a16:creationId xmlns:a16="http://schemas.microsoft.com/office/drawing/2014/main" id="{7E23F747-AA96-4525-8899-4B576C23708F}"/>
              </a:ext>
            </a:extLst>
          </p:cNvPr>
          <p:cNvSpPr>
            <a:spLocks xmlns:a="http://schemas.openxmlformats.org/drawingml/2006/main" noGrp="1"/>
          </p:cNvSpPr>
          <p:nvPr/>
        </p:nvSpPr>
        <p:spPr>
          <a:xfrm xmlns:a="http://schemas.openxmlformats.org/drawingml/2006/main">
            <a:off x="1238250" y="157162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5100" b="1">
                <a:solidFill>
                  <a:srgbClr val="D97706"/>
                </a:solidFill>
                <a:latin typeface="Noto Sans"/>
                <a:ea typeface="Noto Sans"/>
                <a:cs typeface="Noto Sans"/>
              </a:defRPr>
            </a:pPr>
            <a:r>
              <a:rPr sz="5100" b="1">
                <a:solidFill>
                  <a:srgbClr val="D97706"/>
                </a:solidFill>
                <a:latin typeface="Noto Sans"/>
                <a:ea typeface="Noto Sans"/>
                <a:cs typeface="Noto Sans"/>
              </a:rPr>
              <a:t>896</a:t>
            </a:r>
          </a:p>
        </p:txBody>
      </p:sp>
      <p:sp>
        <p:nvSpPr>
          <p:cNvPr id="12" name="">
            <a:extLst xmlns:a="http://schemas.openxmlformats.org/drawingml/2006/main">
              <a:ext uri="{FF2B5EF4-FFF2-40B4-BE49-F238E27FC236}">
                <a16:creationId xmlns:a16="http://schemas.microsoft.com/office/drawing/2014/main" id="{2F00D08C-1636-4C2A-8AC5-D060BFA2477D}"/>
              </a:ext>
            </a:extLst>
          </p:cNvPr>
          <p:cNvSpPr>
            <a:spLocks xmlns:a="http://schemas.openxmlformats.org/drawingml/2006/main" noGrp="1"/>
          </p:cNvSpPr>
          <p:nvPr/>
        </p:nvSpPr>
        <p:spPr>
          <a:xfrm xmlns:a="http://schemas.openxmlformats.org/drawingml/2006/main">
            <a:off x="904875" y="25717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‏نمونه آزمون</a:t>
            </a:r>
          </a:p>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۴۴۸ عادی و ۴۴۸ پرنرخ</a:t>
            </a:r>
          </a:p>
        </p:txBody>
      </p:sp>
      <p:sp>
        <p:nvSpPr>
          <p:cNvPr id="13" name="">
            <a:extLst xmlns:a="http://schemas.openxmlformats.org/drawingml/2006/main">
              <a:ext uri="{FF2B5EF4-FFF2-40B4-BE49-F238E27FC236}">
                <a16:creationId xmlns:a16="http://schemas.microsoft.com/office/drawing/2014/main" id="{142195B0-C4E9-44FF-900C-13123F9806C3}"/>
              </a:ext>
            </a:extLst>
          </p:cNvPr>
          <p:cNvSpPr>
            <a:spLocks xmlns:a="http://schemas.openxmlformats.org/drawingml/2006/main" noGrp="1"/>
          </p:cNvSpPr>
          <p:nvPr/>
        </p:nvSpPr>
        <p:spPr>
          <a:xfrm xmlns:a="http://schemas.openxmlformats.org/drawingml/2006/main">
            <a:off x="1809750" y="3829050"/>
            <a:ext cx="85725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14" name="">
            <a:extLst xmlns:a="http://schemas.openxmlformats.org/drawingml/2006/main">
              <a:ext uri="{FF2B5EF4-FFF2-40B4-BE49-F238E27FC236}">
                <a16:creationId xmlns:a16="http://schemas.microsoft.com/office/drawing/2014/main" id="{6E814C2C-7EA4-478F-9712-4F69E594DB61}"/>
              </a:ext>
            </a:extLst>
          </p:cNvPr>
          <p:cNvSpPr>
            <a:spLocks xmlns:a="http://schemas.openxmlformats.org/drawingml/2006/main" noGrp="1"/>
          </p:cNvSpPr>
          <p:nvPr/>
        </p:nvSpPr>
        <p:spPr>
          <a:xfrm xmlns:a="http://schemas.openxmlformats.org/drawingml/2006/main">
            <a:off x="1619250" y="4191000"/>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950" b="0">
                <a:solidFill>
                  <a:srgbClr val="17202A"/>
                </a:solidFill>
                <a:latin typeface="Noto Sans Arabic"/>
                <a:ea typeface="Noto Sans Arabic"/>
                <a:cs typeface="Noto Sans Arabic"/>
              </a:defRPr>
            </a:pPr>
            <a:r>
              <a:rPr sz="1950" b="0">
                <a:solidFill>
                  <a:srgbClr val="17202A"/>
                </a:solidFill>
                <a:latin typeface="Noto Sans Arabic"/>
                <a:ea typeface="Noto Sans Arabic"/>
                <a:cs typeface="Noto Sans Arabic"/>
              </a:rPr>
              <a:t>‏در هر تکرار: داده عادی کالیبراسیون، داده عادی آزمون و داده ICMP پرنرخ آزمون به‌صورت مستقل جمع‌آوری شد.</a:t>
            </a:r>
          </a:p>
        </p:txBody>
      </p:sp>
      <p:sp>
        <p:nvSpPr>
          <p:cNvPr id="15" name="">
            <a:extLst xmlns:a="http://schemas.openxmlformats.org/drawingml/2006/main">
              <a:ext uri="{FF2B5EF4-FFF2-40B4-BE49-F238E27FC236}">
                <a16:creationId xmlns:a16="http://schemas.microsoft.com/office/drawing/2014/main" id="{7701C393-6286-4CA2-9185-5C89AC74B64B}"/>
              </a:ext>
            </a:extLst>
          </p:cNvPr>
          <p:cNvSpPr>
            <a:spLocks xmlns:a="http://schemas.openxmlformats.org/drawingml/2006/main" noGrp="1"/>
          </p:cNvSpPr>
          <p:nvPr/>
        </p:nvSpPr>
        <p:spPr>
          <a:xfrm xmlns:a="http://schemas.openxmlformats.org/drawingml/2006/main">
            <a:off x="2571750" y="5286375"/>
            <a:ext cx="7048500" cy="552450"/>
          </a:xfrm>
          <a:prstGeom xmlns:a="http://schemas.openxmlformats.org/drawingml/2006/main" prst="roundRect">
            <a:avLst>
              <a:gd name="adj" fmla="val 27586"/>
            </a:avLst>
          </a:prstGeom>
          <a:solidFill xmlns:a="http://schemas.openxmlformats.org/drawingml/2006/main">
            <a:srgbClr val="163F63"/>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1">
                <a:solidFill>
                  <a:srgbClr val="FFFFFF"/>
                </a:solidFill>
                <a:latin typeface="Noto Sans Arabic"/>
                <a:ea typeface="Noto Sans Arabic"/>
                <a:cs typeface="Noto Sans Arabic"/>
              </a:defRPr>
            </a:pPr>
            <a:r>
              <a:rPr sz="1725" b="1">
                <a:solidFill>
                  <a:srgbClr val="FFFFFF"/>
                </a:solidFill>
                <a:latin typeface="Noto Sans Arabic"/>
                <a:ea typeface="Noto Sans Arabic"/>
                <a:cs typeface="Noto Sans Arabic"/>
              </a:rPr>
              <a:t>‏پارامتر ثابت آزمون:  eps = 0.28  و  min_samples = 5</a:t>
            </a:r>
          </a:p>
        </p:txBody>
      </p:sp>
    </p:spTree>
    <p:extLst>
      <p:ext uri="{BB962C8B-B14F-4D97-AF65-F5344CB8AC3E}">
        <p14:creationId xmlns:p14="http://schemas.microsoft.com/office/powerpoint/2010/main" val="883032792"/>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9E128C-004E-4C8D-9EC7-BA50D44DEF1B}"/>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DC346168-031C-4BC7-B8BD-4426C7CA8214}"/>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71CA99-EEC1-49E6-85A9-31F4788760B7}"/>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‏نتایج چهار تکرار تأییدی</a:t>
            </a:r>
          </a:p>
        </p:txBody>
      </p:sp>
      <p:sp>
        <p:nvSpPr>
          <p:cNvPr id="4" name="">
            <a:extLst xmlns:a="http://schemas.openxmlformats.org/drawingml/2006/main">
              <a:ext uri="{FF2B5EF4-FFF2-40B4-BE49-F238E27FC236}">
                <a16:creationId xmlns:a16="http://schemas.microsoft.com/office/drawing/2014/main" id="{196FC969-7EF2-4D18-898F-840AEB3662D1}"/>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‏مقایسه F1، صحت متوازن و نرخ مثبت کاذب</a:t>
            </a:r>
          </a:p>
        </p:txBody>
      </p:sp>
      <p:sp>
        <p:nvSpPr>
          <p:cNvPr id="5" name="">
            <a:extLst xmlns:a="http://schemas.openxmlformats.org/drawingml/2006/main">
              <a:ext uri="{FF2B5EF4-FFF2-40B4-BE49-F238E27FC236}">
                <a16:creationId xmlns:a16="http://schemas.microsoft.com/office/drawing/2014/main" id="{BFD334A4-A63D-44E6-AA82-732701AA3B2D}"/>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13</a:t>
            </a:r>
          </a:p>
        </p:txBody>
      </p:sp>
      <p:sp>
        <p:nvSpPr>
          <p:cNvPr id="6" name="">
            <a:extLst xmlns:a="http://schemas.openxmlformats.org/drawingml/2006/main">
              <a:ext uri="{FF2B5EF4-FFF2-40B4-BE49-F238E27FC236}">
                <a16:creationId xmlns:a16="http://schemas.microsoft.com/office/drawing/2014/main" id="{9BB052E8-9E51-4689-80AE-AC52AD2B32A0}"/>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graphicFrame>
        <p:nvGraphicFramePr>
          <p:cNvPr id="17" name="Chart"/>
          <p:cNvGraphicFramePr/>
          <p:nvPr/>
        </p:nvGraphicFramePr>
        <p:xfrm>
          <a:off xmlns:a="http://schemas.openxmlformats.org/drawingml/2006/main" x="762000" y="1476375"/>
          <a:ext xmlns:a="http://schemas.openxmlformats.org/drawingml/2006/main" cx="10572750" cy="4191000"/>
        </p:xfrm>
        <a:graphic xmlns:a="http://schemas.openxmlformats.org/drawingml/2006/main">
          <a:graphicData uri="http://schemas.openxmlformats.org/drawingml/2006/chart">
            <c:chart xmlns:r="http://schemas.openxmlformats.org/officeDocument/2006/relationships" xmlns:c="http://schemas.openxmlformats.org/drawingml/2006/chart" r:id="R1c2a0de5434545e8"/>
          </a:graphicData>
        </a:graphic>
      </p:graphicFrame>
      <p:sp>
        <p:nvSpPr>
          <p:cNvPr id="8" name="">
            <a:extLst xmlns:a="http://schemas.openxmlformats.org/drawingml/2006/main">
              <a:ext uri="{FF2B5EF4-FFF2-40B4-BE49-F238E27FC236}">
                <a16:creationId xmlns:a16="http://schemas.microsoft.com/office/drawing/2014/main" id="{1AD3019B-A69D-4CA5-9964-07834A835D45}"/>
              </a:ext>
            </a:extLst>
          </p:cNvPr>
          <p:cNvSpPr>
            <a:spLocks xmlns:a="http://schemas.openxmlformats.org/drawingml/2006/main" noGrp="1"/>
          </p:cNvSpPr>
          <p:nvPr/>
        </p:nvSpPr>
        <p:spPr>
          <a:xfrm xmlns:a="http://schemas.openxmlformats.org/drawingml/2006/main">
            <a:off x="1714500" y="5734050"/>
            <a:ext cx="876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650" b="1">
                <a:solidFill>
                  <a:srgbClr val="163F63"/>
                </a:solidFill>
                <a:latin typeface="Noto Sans Arabic"/>
                <a:ea typeface="Noto Sans Arabic"/>
                <a:cs typeface="Noto Sans Arabic"/>
              </a:defRPr>
            </a:pPr>
            <a:r>
              <a:rPr sz="1650" b="1">
                <a:solidFill>
                  <a:srgbClr val="163F63"/>
                </a:solidFill>
                <a:latin typeface="Noto Sans Arabic"/>
                <a:ea typeface="Noto Sans Arabic"/>
                <a:cs typeface="Noto Sans Arabic"/>
              </a:rPr>
              <a:t>‏در همه تکرارها Recall برابر ۱۰۰٪ بود؛ تفاوت اصلی از تعداد هشدارهای کاذب ناشی شد.</a:t>
            </a:r>
          </a:p>
        </p:txBody>
      </p:sp>
    </p:spTree>
    <p:extLst>
      <p:ext uri="{BB962C8B-B14F-4D97-AF65-F5344CB8AC3E}">
        <p14:creationId xmlns:p14="http://schemas.microsoft.com/office/powerpoint/2010/main" val="370509006"/>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934F2C-6693-4E3A-8059-B617EC33A050}"/>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B39F2CFC-5472-4449-830E-9414745D7463}"/>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301E77-836B-44BC-8AE3-056CD5FBC9FA}"/>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‏ماتریس درهم‌ریختگی تجمیعی</a:t>
            </a:r>
          </a:p>
        </p:txBody>
      </p:sp>
      <p:sp>
        <p:nvSpPr>
          <p:cNvPr id="4" name="">
            <a:extLst xmlns:a="http://schemas.openxmlformats.org/drawingml/2006/main">
              <a:ext uri="{FF2B5EF4-FFF2-40B4-BE49-F238E27FC236}">
                <a16:creationId xmlns:a16="http://schemas.microsoft.com/office/drawing/2014/main" id="{5014319A-4935-4610-9FE0-39F9D8CF5613}"/>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‏نتیجه ۸۹۶ نمونه آزمون با eps = 0.28</a:t>
            </a:r>
          </a:p>
        </p:txBody>
      </p:sp>
      <p:sp>
        <p:nvSpPr>
          <p:cNvPr id="5" name="">
            <a:extLst xmlns:a="http://schemas.openxmlformats.org/drawingml/2006/main">
              <a:ext uri="{FF2B5EF4-FFF2-40B4-BE49-F238E27FC236}">
                <a16:creationId xmlns:a16="http://schemas.microsoft.com/office/drawing/2014/main" id="{9087B2EE-38E0-4A67-81AE-A43322C440FF}"/>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14</a:t>
            </a:r>
          </a:p>
        </p:txBody>
      </p:sp>
      <p:sp>
        <p:nvSpPr>
          <p:cNvPr id="6" name="">
            <a:extLst xmlns:a="http://schemas.openxmlformats.org/drawingml/2006/main">
              <a:ext uri="{FF2B5EF4-FFF2-40B4-BE49-F238E27FC236}">
                <a16:creationId xmlns:a16="http://schemas.microsoft.com/office/drawing/2014/main" id="{F2915E29-7C93-478A-A346-EADED3DDB84E}"/>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graphicFrame>
        <p:nvGraphicFramePr>
          <p:cNvPr id="17" name=""/>
          <p:cNvGraphicFramePr/>
          <p:nvPr/>
        </p:nvGraphicFramePr>
        <p:xfrm>
          <a:off xmlns:a="http://schemas.openxmlformats.org/drawingml/2006/main" x="2286000" y="1666875"/>
          <a:ext xmlns:a="http://schemas.openxmlformats.org/drawingml/2006/main" cx="7620000" cy="3714750"/>
        </p:xfrm>
        <a:graphic xmlns:a="http://schemas.openxmlformats.org/drawingml/2006/main">
          <a:graphicData uri="http://schemas.openxmlformats.org/drawingml/2006/table">
            <a:tbl>
              <a:tblPr/>
              <a:tblGrid>
                <a:gridCol w="2667000"/>
                <a:gridCol w="2476500"/>
                <a:gridCol w="2476500"/>
              </a:tblGrid>
              <a:tr h="1238250">
                <a:tc>
                  <a:txBody>
                    <a:bodyPr/>
                    <a:lstStyle/>
                    <a:p>
                      <a:pPr algn="ctr">
                        <a:buNone/>
                      </a:pPr>
                      <a:r>
                        <a:rPr sz="1650" b="1">
                          <a:solidFill>
                            <a:srgbClr val="FFFFFF"/>
                          </a:solidFill>
                          <a:latin typeface="Noto Sans Arabic"/>
                          <a:ea typeface="Noto Sans Arabic"/>
                          <a:cs typeface="Noto Sans Arabic"/>
                        </a:rPr>
                        <a:t>واقعی / پیش‌بینی</a:t>
                      </a:r>
                    </a:p>
                  </a:txBody>
                  <a:tcPr marL="91440" marR="91440" marT="45720" marB="45720" anchor="ctr">
                    <a:solidFill>
                      <a:srgbClr val="163F63"/>
                    </a:solidFill>
                  </a:tcPr>
                </a:tc>
                <a:tc>
                  <a:txBody>
                    <a:bodyPr/>
                    <a:lstStyle/>
                    <a:p>
                      <a:pPr algn="ctr">
                        <a:buNone/>
                      </a:pPr>
                      <a:r>
                        <a:rPr sz="1650" b="1">
                          <a:solidFill>
                            <a:srgbClr val="FFFFFF"/>
                          </a:solidFill>
                          <a:latin typeface="Noto Sans Arabic"/>
                          <a:ea typeface="Noto Sans Arabic"/>
                          <a:cs typeface="Noto Sans Arabic"/>
                        </a:rPr>
                        <a:t>عادی</a:t>
                      </a:r>
                    </a:p>
                  </a:txBody>
                  <a:tcPr marL="91440" marR="91440" marT="45720" marB="45720" anchor="ctr">
                    <a:solidFill>
                      <a:srgbClr val="163F63"/>
                    </a:solidFill>
                  </a:tcPr>
                </a:tc>
                <a:tc>
                  <a:txBody>
                    <a:bodyPr/>
                    <a:lstStyle/>
                    <a:p>
                      <a:pPr algn="ctr">
                        <a:buNone/>
                      </a:pPr>
                      <a:r>
                        <a:rPr sz="1650" b="1">
                          <a:solidFill>
                            <a:srgbClr val="FFFFFF"/>
                          </a:solidFill>
                          <a:latin typeface="Noto Sans Arabic"/>
                          <a:ea typeface="Noto Sans Arabic"/>
                          <a:cs typeface="Noto Sans Arabic"/>
                        </a:rPr>
                        <a:t>ناهنجار</a:t>
                      </a:r>
                    </a:p>
                  </a:txBody>
                  <a:tcPr marL="91440" marR="91440" marT="45720" marB="45720" anchor="ctr">
                    <a:solidFill>
                      <a:srgbClr val="163F63"/>
                    </a:solidFill>
                  </a:tcPr>
                </a:tc>
              </a:tr>
              <a:tr h="1238250">
                <a:tc>
                  <a:txBody>
                    <a:bodyPr/>
                    <a:lstStyle/>
                    <a:p>
                      <a:pPr algn="ctr">
                        <a:buNone/>
                      </a:pPr>
                      <a:r>
                        <a:rPr sz="1725" b="1">
                          <a:solidFill>
                            <a:srgbClr val="163F63"/>
                          </a:solidFill>
                          <a:latin typeface="Noto Sans Arabic"/>
                          <a:ea typeface="Noto Sans Arabic"/>
                          <a:cs typeface="Noto Sans Arabic"/>
                        </a:rPr>
                        <a:t>عادی</a:t>
                      </a:r>
                    </a:p>
                  </a:txBody>
                  <a:tcPr marL="91440" marR="91440" marT="45720" marB="45720" anchor="ctr">
                    <a:solidFill>
                      <a:srgbClr val="EAF2F8"/>
                    </a:solidFill>
                  </a:tcPr>
                </a:tc>
                <a:tc>
                  <a:txBody>
                    <a:bodyPr/>
                    <a:lstStyle/>
                    <a:p>
                      <a:pPr algn="ctr">
                        <a:buNone/>
                      </a:pPr>
                      <a:r>
                        <a:rPr sz="2325" b="1">
                          <a:solidFill>
                            <a:srgbClr val="17202A"/>
                          </a:solidFill>
                          <a:latin typeface="Noto Sans"/>
                          <a:ea typeface="Noto Sans"/>
                          <a:cs typeface="Noto Sans"/>
                        </a:rPr>
                        <a:t>TN</a:t>
                      </a:r>
                    </a:p>
                    <a:p>
                      <a:pPr algn="ctr">
                        <a:buNone/>
                      </a:pPr>
                      <a:r>
                        <a:rPr sz="2325" b="1">
                          <a:solidFill>
                            <a:srgbClr val="17202A"/>
                          </a:solidFill>
                          <a:latin typeface="Noto Sans"/>
                          <a:ea typeface="Noto Sans"/>
                          <a:cs typeface="Noto Sans"/>
                        </a:rPr>
                        <a:t>398</a:t>
                      </a:r>
                    </a:p>
                  </a:txBody>
                  <a:tcPr marL="91440" marR="91440" marT="45720" marB="45720" anchor="ctr">
                    <a:solidFill>
                      <a:srgbClr val="BEE3D8"/>
                    </a:solidFill>
                  </a:tcPr>
                </a:tc>
                <a:tc>
                  <a:txBody>
                    <a:bodyPr/>
                    <a:lstStyle/>
                    <a:p>
                      <a:pPr algn="ctr">
                        <a:buNone/>
                      </a:pPr>
                      <a:r>
                        <a:rPr sz="2325" b="1">
                          <a:solidFill>
                            <a:srgbClr val="17202A"/>
                          </a:solidFill>
                          <a:latin typeface="Noto Sans"/>
                          <a:ea typeface="Noto Sans"/>
                          <a:cs typeface="Noto Sans"/>
                        </a:rPr>
                        <a:t>FP</a:t>
                      </a:r>
                    </a:p>
                    <a:p>
                      <a:pPr algn="ctr">
                        <a:buNone/>
                      </a:pPr>
                      <a:r>
                        <a:rPr sz="2325" b="1">
                          <a:solidFill>
                            <a:srgbClr val="17202A"/>
                          </a:solidFill>
                          <a:latin typeface="Noto Sans"/>
                          <a:ea typeface="Noto Sans"/>
                          <a:cs typeface="Noto Sans"/>
                        </a:rPr>
                        <a:t>50</a:t>
                      </a:r>
                    </a:p>
                  </a:txBody>
                  <a:tcPr marL="91440" marR="91440" marT="45720" marB="45720" anchor="ctr">
                    <a:solidFill>
                      <a:srgbClr val="F9D7B0"/>
                    </a:solidFill>
                  </a:tcPr>
                </a:tc>
              </a:tr>
              <a:tr h="1238250">
                <a:tc>
                  <a:txBody>
                    <a:bodyPr/>
                    <a:lstStyle/>
                    <a:p>
                      <a:pPr algn="ctr">
                        <a:buNone/>
                      </a:pPr>
                      <a:r>
                        <a:rPr sz="1725" b="1">
                          <a:solidFill>
                            <a:srgbClr val="163F63"/>
                          </a:solidFill>
                          <a:latin typeface="Noto Sans Arabic"/>
                          <a:ea typeface="Noto Sans Arabic"/>
                          <a:cs typeface="Noto Sans Arabic"/>
                        </a:rPr>
                        <a:t>ICMP پرنرخ</a:t>
                      </a:r>
                    </a:p>
                  </a:txBody>
                  <a:tcPr marL="91440" marR="91440" marT="45720" marB="45720" anchor="ctr">
                    <a:solidFill>
                      <a:srgbClr val="EAF2F8"/>
                    </a:solidFill>
                  </a:tcPr>
                </a:tc>
                <a:tc>
                  <a:txBody>
                    <a:bodyPr/>
                    <a:lstStyle/>
                    <a:p>
                      <a:pPr algn="ctr">
                        <a:buNone/>
                      </a:pPr>
                      <a:r>
                        <a:rPr sz="2325" b="1">
                          <a:solidFill>
                            <a:srgbClr val="17202A"/>
                          </a:solidFill>
                          <a:latin typeface="Noto Sans"/>
                          <a:ea typeface="Noto Sans"/>
                          <a:cs typeface="Noto Sans"/>
                        </a:rPr>
                        <a:t>FN</a:t>
                      </a:r>
                    </a:p>
                    <a:p>
                      <a:pPr algn="ctr">
                        <a:buNone/>
                      </a:pPr>
                      <a:r>
                        <a:rPr sz="2325" b="1">
                          <a:solidFill>
                            <a:srgbClr val="17202A"/>
                          </a:solidFill>
                          <a:latin typeface="Noto Sans"/>
                          <a:ea typeface="Noto Sans"/>
                          <a:cs typeface="Noto Sans"/>
                        </a:rPr>
                        <a:t>0</a:t>
                      </a:r>
                    </a:p>
                  </a:txBody>
                  <a:tcPr marL="91440" marR="91440" marT="45720" marB="45720" anchor="ctr">
                    <a:solidFill>
                      <a:srgbClr val="E7EEF5"/>
                    </a:solidFill>
                  </a:tcPr>
                </a:tc>
                <a:tc>
                  <a:txBody>
                    <a:bodyPr/>
                    <a:lstStyle/>
                    <a:p>
                      <a:pPr algn="ctr">
                        <a:buNone/>
                      </a:pPr>
                      <a:r>
                        <a:rPr sz="2325" b="1">
                          <a:solidFill>
                            <a:srgbClr val="17202A"/>
                          </a:solidFill>
                          <a:latin typeface="Noto Sans"/>
                          <a:ea typeface="Noto Sans"/>
                          <a:cs typeface="Noto Sans"/>
                        </a:rPr>
                        <a:t>TP</a:t>
                      </a:r>
                    </a:p>
                    <a:p>
                      <a:pPr algn="ctr">
                        <a:buNone/>
                      </a:pPr>
                      <a:r>
                        <a:rPr sz="2325" b="1">
                          <a:solidFill>
                            <a:srgbClr val="17202A"/>
                          </a:solidFill>
                          <a:latin typeface="Noto Sans"/>
                          <a:ea typeface="Noto Sans"/>
                          <a:cs typeface="Noto Sans"/>
                        </a:rPr>
                        <a:t>448</a:t>
                      </a:r>
                    </a:p>
                  </a:txBody>
                  <a:tcPr marL="91440" marR="91440" marT="45720" marB="45720" anchor="ctr">
                    <a:solidFill>
                      <a:srgbClr val="72B7A7"/>
                    </a:solidFill>
                  </a:tcPr>
                </a:tc>
              </a:tr>
            </a:tbl>
          </a:graphicData>
        </a:graphic>
      </p:graphicFrame>
      <p:sp>
        <p:nvSpPr>
          <p:cNvPr id="8" name="">
            <a:extLst xmlns:a="http://schemas.openxmlformats.org/drawingml/2006/main">
              <a:ext uri="{FF2B5EF4-FFF2-40B4-BE49-F238E27FC236}">
                <a16:creationId xmlns:a16="http://schemas.microsoft.com/office/drawing/2014/main" id="{B67D9579-F290-4B57-88B0-195E7C617E02}"/>
              </a:ext>
            </a:extLst>
          </p:cNvPr>
          <p:cNvSpPr>
            <a:spLocks xmlns:a="http://schemas.openxmlformats.org/drawingml/2006/main" noGrp="1"/>
          </p:cNvSpPr>
          <p:nvPr/>
        </p:nvSpPr>
        <p:spPr>
          <a:xfrm xmlns:a="http://schemas.openxmlformats.org/drawingml/2006/main">
            <a:off x="1809750" y="56197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‏هیچ نمونه حمله‌ای از دست نرفت؛ ۵۰ نمونه عادی به‌اشتباه ناهنجار تشخیص داده شد.</a:t>
            </a:r>
          </a:p>
        </p:txBody>
      </p:sp>
    </p:spTree>
    <p:extLst>
      <p:ext uri="{BB962C8B-B14F-4D97-AF65-F5344CB8AC3E}">
        <p14:creationId xmlns:p14="http://schemas.microsoft.com/office/powerpoint/2010/main" val="1540536562"/>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45FC2C-79C1-495F-9FBF-4A5218375598}"/>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6E3F81FA-1090-401E-A31E-06A563C2F0C5}"/>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6B6F56-AD23-40C2-83C9-F124EBBB027C}"/>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‏عملکرد تجمیعی روش</a:t>
            </a:r>
          </a:p>
        </p:txBody>
      </p:sp>
      <p:sp>
        <p:nvSpPr>
          <p:cNvPr id="4" name="">
            <a:extLst xmlns:a="http://schemas.openxmlformats.org/drawingml/2006/main">
              <a:ext uri="{FF2B5EF4-FFF2-40B4-BE49-F238E27FC236}">
                <a16:creationId xmlns:a16="http://schemas.microsoft.com/office/drawing/2014/main" id="{49AD1A8A-4FB0-48FC-90F3-20D758C73DE9}"/>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‏جمع‌بندی معیارها در چهار تکرار مستقل</a:t>
            </a:r>
          </a:p>
        </p:txBody>
      </p:sp>
      <p:sp>
        <p:nvSpPr>
          <p:cNvPr id="5" name="">
            <a:extLst xmlns:a="http://schemas.openxmlformats.org/drawingml/2006/main">
              <a:ext uri="{FF2B5EF4-FFF2-40B4-BE49-F238E27FC236}">
                <a16:creationId xmlns:a16="http://schemas.microsoft.com/office/drawing/2014/main" id="{6291CCBE-6A6C-4A62-AA9C-AD4701CA3A27}"/>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15</a:t>
            </a:r>
          </a:p>
        </p:txBody>
      </p:sp>
      <p:sp>
        <p:nvSpPr>
          <p:cNvPr id="6" name="">
            <a:extLst xmlns:a="http://schemas.openxmlformats.org/drawingml/2006/main">
              <a:ext uri="{FF2B5EF4-FFF2-40B4-BE49-F238E27FC236}">
                <a16:creationId xmlns:a16="http://schemas.microsoft.com/office/drawing/2014/main" id="{D1C63724-DC3A-4253-B508-C2C59219540F}"/>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graphicFrame>
        <p:nvGraphicFramePr>
          <p:cNvPr id="17" name="Chart"/>
          <p:cNvGraphicFramePr/>
          <p:nvPr/>
        </p:nvGraphicFramePr>
        <p:xfrm>
          <a:off xmlns:a="http://schemas.openxmlformats.org/drawingml/2006/main" x="1000125" y="1476375"/>
          <a:ext xmlns:a="http://schemas.openxmlformats.org/drawingml/2006/main" cx="10191750" cy="4095750"/>
        </p:xfrm>
        <a:graphic xmlns:a="http://schemas.openxmlformats.org/drawingml/2006/main">
          <a:graphicData uri="http://schemas.openxmlformats.org/drawingml/2006/chart">
            <c:chart xmlns:r="http://schemas.openxmlformats.org/officeDocument/2006/relationships" xmlns:c="http://schemas.openxmlformats.org/drawingml/2006/chart" r:id="R6c10acb9bd364265"/>
          </a:graphicData>
        </a:graphic>
      </p:graphicFrame>
      <p:sp>
        <p:nvSpPr>
          <p:cNvPr id="8" name="">
            <a:extLst xmlns:a="http://schemas.openxmlformats.org/drawingml/2006/main">
              <a:ext uri="{FF2B5EF4-FFF2-40B4-BE49-F238E27FC236}">
                <a16:creationId xmlns:a16="http://schemas.microsoft.com/office/drawing/2014/main" id="{1C6571A2-14B9-47D2-8B61-FFE655D72C74}"/>
              </a:ext>
            </a:extLst>
          </p:cNvPr>
          <p:cNvSpPr>
            <a:spLocks xmlns:a="http://schemas.openxmlformats.org/drawingml/2006/main" noGrp="1"/>
          </p:cNvSpPr>
          <p:nvPr/>
        </p:nvSpPr>
        <p:spPr>
          <a:xfrm xmlns:a="http://schemas.openxmlformats.org/drawingml/2006/main">
            <a:off x="4095750" y="5715000"/>
            <a:ext cx="4000500" cy="495300"/>
          </a:xfrm>
          <a:prstGeom xmlns:a="http://schemas.openxmlformats.org/drawingml/2006/main" prst="roundRect">
            <a:avLst>
              <a:gd name="adj" fmla="val 30769"/>
            </a:avLst>
          </a:prstGeom>
          <a:solidFill xmlns:a="http://schemas.openxmlformats.org/drawingml/2006/main">
            <a:srgbClr val="D97706"/>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75" b="1">
                <a:solidFill>
                  <a:srgbClr val="FFFFFF"/>
                </a:solidFill>
                <a:latin typeface="Noto Sans Arabic"/>
                <a:ea typeface="Noto Sans Arabic"/>
                <a:cs typeface="Noto Sans Arabic"/>
              </a:defRPr>
            </a:pPr>
            <a:r>
              <a:rPr sz="1875" b="1">
                <a:solidFill>
                  <a:srgbClr val="FFFFFF"/>
                </a:solidFill>
                <a:latin typeface="Noto Sans Arabic"/>
                <a:ea typeface="Noto Sans Arabic"/>
                <a:cs typeface="Noto Sans Arabic"/>
              </a:rPr>
              <a:t>‏نرخ مثبت کاذب: ۱۱٫۱۶٪</a:t>
            </a:r>
          </a:p>
        </p:txBody>
      </p:sp>
    </p:spTree>
    <p:extLst>
      <p:ext uri="{BB962C8B-B14F-4D97-AF65-F5344CB8AC3E}">
        <p14:creationId xmlns:p14="http://schemas.microsoft.com/office/powerpoint/2010/main" val="1936917884"/>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625F3A-1E26-4808-825A-3C43B916BAB3}"/>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B7F48926-4913-49C6-955A-3B17421F3EBF}"/>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931D13-E9EE-4077-BC5B-51E37C502375}"/>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‏تحلیل هشدارهای کاذب</a:t>
            </a:r>
          </a:p>
        </p:txBody>
      </p:sp>
      <p:sp>
        <p:nvSpPr>
          <p:cNvPr id="4" name="">
            <a:extLst xmlns:a="http://schemas.openxmlformats.org/drawingml/2006/main">
              <a:ext uri="{FF2B5EF4-FFF2-40B4-BE49-F238E27FC236}">
                <a16:creationId xmlns:a16="http://schemas.microsoft.com/office/drawing/2014/main" id="{8C3FC1CB-3A71-4B98-B26C-5216E3F26876}"/>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‏اثر مرز پنجره نمونه‌برداری بر فاصله تا نقاط هسته‌ای</a:t>
            </a:r>
          </a:p>
        </p:txBody>
      </p:sp>
      <p:sp>
        <p:nvSpPr>
          <p:cNvPr id="5" name="">
            <a:extLst xmlns:a="http://schemas.openxmlformats.org/drawingml/2006/main">
              <a:ext uri="{FF2B5EF4-FFF2-40B4-BE49-F238E27FC236}">
                <a16:creationId xmlns:a16="http://schemas.microsoft.com/office/drawing/2014/main" id="{3004D691-A700-431E-9096-D5D1BD21F3A5}"/>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16</a:t>
            </a:r>
          </a:p>
        </p:txBody>
      </p:sp>
      <p:sp>
        <p:nvSpPr>
          <p:cNvPr id="6" name="">
            <a:extLst xmlns:a="http://schemas.openxmlformats.org/drawingml/2006/main">
              <a:ext uri="{FF2B5EF4-FFF2-40B4-BE49-F238E27FC236}">
                <a16:creationId xmlns:a16="http://schemas.microsoft.com/office/drawing/2014/main" id="{073AEE17-CD9C-4832-A6E2-3404AE29D31F}"/>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bc8aef75cd442ea"/>
          <a:stretch xmlns:a="http://schemas.openxmlformats.org/drawingml/2006/main"/>
        </p:blipFill>
        <p:spPr>
          <a:xfrm xmlns:a="http://schemas.openxmlformats.org/drawingml/2006/main">
            <a:off x="523875" y="1479021"/>
            <a:ext cx="7620000" cy="42333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B17A66-60DD-440A-8C9B-DBA84A09D3B2}"/>
              </a:ext>
            </a:extLst>
          </p:cNvPr>
          <p:cNvSpPr>
            <a:spLocks xmlns:a="http://schemas.openxmlformats.org/drawingml/2006/main" noGrp="1"/>
          </p:cNvSpPr>
          <p:nvPr/>
        </p:nvSpPr>
        <p:spPr>
          <a:xfrm xmlns:a="http://schemas.openxmlformats.org/drawingml/2006/main">
            <a:off x="8763000" y="1619250"/>
            <a:ext cx="209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4500" b="1">
                <a:solidFill>
                  <a:srgbClr val="D97706"/>
                </a:solidFill>
                <a:latin typeface="Noto Sans"/>
                <a:ea typeface="Noto Sans"/>
                <a:cs typeface="Noto Sans"/>
              </a:defRPr>
            </a:pPr>
            <a:r>
              <a:rPr sz="4500" b="1">
                <a:solidFill>
                  <a:srgbClr val="D97706"/>
                </a:solidFill>
                <a:latin typeface="Noto Sans"/>
                <a:ea typeface="Noto Sans"/>
                <a:cs typeface="Noto Sans"/>
              </a:rPr>
              <a:t>50</a:t>
            </a:r>
          </a:p>
        </p:txBody>
      </p:sp>
      <p:sp>
        <p:nvSpPr>
          <p:cNvPr id="9" name="">
            <a:extLst xmlns:a="http://schemas.openxmlformats.org/drawingml/2006/main">
              <a:ext uri="{FF2B5EF4-FFF2-40B4-BE49-F238E27FC236}">
                <a16:creationId xmlns:a16="http://schemas.microsoft.com/office/drawing/2014/main" id="{D1EC3E38-FDD1-4C5D-ACF0-CEFA6985FD3C}"/>
              </a:ext>
            </a:extLst>
          </p:cNvPr>
          <p:cNvSpPr>
            <a:spLocks xmlns:a="http://schemas.openxmlformats.org/drawingml/2006/main" noGrp="1"/>
          </p:cNvSpPr>
          <p:nvPr/>
        </p:nvSpPr>
        <p:spPr>
          <a:xfrm xmlns:a="http://schemas.openxmlformats.org/drawingml/2006/main">
            <a:off x="8286750" y="24765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63F63"/>
                </a:solidFill>
                <a:latin typeface="Noto Sans Arabic"/>
                <a:ea typeface="Noto Sans Arabic"/>
                <a:cs typeface="Noto Sans Arabic"/>
              </a:defRPr>
            </a:pPr>
            <a:r>
              <a:rPr sz="1800" b="1">
                <a:solidFill>
                  <a:srgbClr val="163F63"/>
                </a:solidFill>
                <a:latin typeface="Noto Sans Arabic"/>
                <a:ea typeface="Noto Sans Arabic"/>
                <a:cs typeface="Noto Sans Arabic"/>
              </a:rPr>
              <a:t>‏مثبت کاذب در چهار تکرار</a:t>
            </a:r>
          </a:p>
        </p:txBody>
      </p:sp>
      <p:sp>
        <p:nvSpPr>
          <p:cNvPr id="10" name="">
            <a:extLst xmlns:a="http://schemas.openxmlformats.org/drawingml/2006/main">
              <a:ext uri="{FF2B5EF4-FFF2-40B4-BE49-F238E27FC236}">
                <a16:creationId xmlns:a16="http://schemas.microsoft.com/office/drawing/2014/main" id="{9AD27005-8FA2-4C43-9279-CD2665F93C9C}"/>
              </a:ext>
            </a:extLst>
          </p:cNvPr>
          <p:cNvSpPr>
            <a:spLocks xmlns:a="http://schemas.openxmlformats.org/drawingml/2006/main" noGrp="1"/>
          </p:cNvSpPr>
          <p:nvPr/>
        </p:nvSpPr>
        <p:spPr>
          <a:xfrm xmlns:a="http://schemas.openxmlformats.org/drawingml/2006/main">
            <a:off x="8334375" y="3333750"/>
            <a:ext cx="2857500" cy="685800"/>
          </a:xfrm>
          <a:prstGeom xmlns:a="http://schemas.openxmlformats.org/drawingml/2006/main" prst="roundRect">
            <a:avLst>
              <a:gd name="adj" fmla="val 22222"/>
            </a:avLst>
          </a:prstGeom>
          <a:solidFill xmlns:a="http://schemas.openxmlformats.org/drawingml/2006/main">
            <a:srgbClr val="FFF3E2"/>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0">
                <a:solidFill>
                  <a:srgbClr val="17202A"/>
                </a:solidFill>
                <a:latin typeface="Noto Sans Arabic"/>
                <a:ea typeface="Noto Sans Arabic"/>
                <a:cs typeface="Noto Sans Arabic"/>
              </a:defRPr>
            </a:pPr>
            <a:r>
              <a:rPr sz="1725" b="0">
                <a:solidFill>
                  <a:srgbClr val="17202A"/>
                </a:solidFill>
                <a:latin typeface="Noto Sans Arabic"/>
                <a:ea typeface="Noto Sans Arabic"/>
                <a:cs typeface="Noto Sans Arabic"/>
              </a:rPr>
              <a:t>‏۴۴ نمونه نزدیک نرخ ۰٫۵ بسته بر ثانیه</a:t>
            </a:r>
          </a:p>
        </p:txBody>
      </p:sp>
      <p:sp>
        <p:nvSpPr>
          <p:cNvPr id="11" name="">
            <a:extLst xmlns:a="http://schemas.openxmlformats.org/drawingml/2006/main">
              <a:ext uri="{FF2B5EF4-FFF2-40B4-BE49-F238E27FC236}">
                <a16:creationId xmlns:a16="http://schemas.microsoft.com/office/drawing/2014/main" id="{477FBD50-2580-4725-A3FB-40E88356E95D}"/>
              </a:ext>
            </a:extLst>
          </p:cNvPr>
          <p:cNvSpPr>
            <a:spLocks xmlns:a="http://schemas.openxmlformats.org/drawingml/2006/main" noGrp="1"/>
          </p:cNvSpPr>
          <p:nvPr/>
        </p:nvSpPr>
        <p:spPr>
          <a:xfrm xmlns:a="http://schemas.openxmlformats.org/drawingml/2006/main">
            <a:off x="8334375" y="4191000"/>
            <a:ext cx="2857500" cy="685800"/>
          </a:xfrm>
          <a:prstGeom xmlns:a="http://schemas.openxmlformats.org/drawingml/2006/main" prst="roundRect">
            <a:avLst>
              <a:gd name="adj" fmla="val 22222"/>
            </a:avLst>
          </a:prstGeom>
          <a:solidFill xmlns:a="http://schemas.openxmlformats.org/drawingml/2006/main">
            <a:srgbClr val="EAF2F8"/>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0">
                <a:solidFill>
                  <a:srgbClr val="17202A"/>
                </a:solidFill>
                <a:latin typeface="Noto Sans Arabic"/>
                <a:ea typeface="Noto Sans Arabic"/>
                <a:cs typeface="Noto Sans Arabic"/>
              </a:defRPr>
            </a:pPr>
            <a:r>
              <a:rPr sz="1725" b="0">
                <a:solidFill>
                  <a:srgbClr val="17202A"/>
                </a:solidFill>
                <a:latin typeface="Noto Sans Arabic"/>
                <a:ea typeface="Noto Sans Arabic"/>
                <a:cs typeface="Noto Sans Arabic"/>
              </a:rPr>
              <a:t>‏۶ نمونه نزدیک نرخ ۱٫۵ بسته بر ثانیه</a:t>
            </a:r>
          </a:p>
        </p:txBody>
      </p:sp>
      <p:sp>
        <p:nvSpPr>
          <p:cNvPr id="12" name="">
            <a:extLst xmlns:a="http://schemas.openxmlformats.org/drawingml/2006/main">
              <a:ext uri="{FF2B5EF4-FFF2-40B4-BE49-F238E27FC236}">
                <a16:creationId xmlns:a16="http://schemas.microsoft.com/office/drawing/2014/main" id="{95093BD5-EC2E-4B80-A8C6-13122A5C41B5}"/>
              </a:ext>
            </a:extLst>
          </p:cNvPr>
          <p:cNvSpPr>
            <a:spLocks xmlns:a="http://schemas.openxmlformats.org/drawingml/2006/main" noGrp="1"/>
          </p:cNvSpPr>
          <p:nvPr/>
        </p:nvSpPr>
        <p:spPr>
          <a:xfrm xmlns:a="http://schemas.openxmlformats.org/drawingml/2006/main">
            <a:off x="8286750" y="51435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575" b="1">
                <a:solidFill>
                  <a:srgbClr val="0F766E"/>
                </a:solidFill>
                <a:latin typeface="Noto Sans Arabic"/>
                <a:ea typeface="Noto Sans Arabic"/>
                <a:cs typeface="Noto Sans Arabic"/>
              </a:defRPr>
            </a:pPr>
            <a:r>
              <a:rPr sz="1575" b="1">
                <a:solidFill>
                  <a:srgbClr val="0F766E"/>
                </a:solidFill>
                <a:latin typeface="Noto Sans Arabic"/>
                <a:ea typeface="Noto Sans Arabic"/>
                <a:cs typeface="Noto Sans Arabic"/>
              </a:rPr>
              <a:t>‏تفسیر: بخشی از پنجره‌های عادی در مرز زمانی نمونه‌برداری، از الگوی کالیبراسیون فاصله گرفته‌اند.</a:t>
            </a:r>
          </a:p>
        </p:txBody>
      </p:sp>
    </p:spTree>
    <p:extLst>
      <p:ext uri="{BB962C8B-B14F-4D97-AF65-F5344CB8AC3E}">
        <p14:creationId xmlns:p14="http://schemas.microsoft.com/office/powerpoint/2010/main" val="1440502428"/>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B08529-075A-4307-B7D7-5D769CEA95DB}"/>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86CEAE0A-275A-419A-BB68-3BE554A3C528}"/>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AA2F4A-A909-4A64-88AF-4D5DD51B8A7E}"/>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‏پاسخ به پرسش‌های پژوهش</a:t>
            </a:r>
          </a:p>
        </p:txBody>
      </p:sp>
      <p:sp>
        <p:nvSpPr>
          <p:cNvPr id="4" name="">
            <a:extLst xmlns:a="http://schemas.openxmlformats.org/drawingml/2006/main">
              <a:ext uri="{FF2B5EF4-FFF2-40B4-BE49-F238E27FC236}">
                <a16:creationId xmlns:a16="http://schemas.microsoft.com/office/drawing/2014/main" id="{47A7FF2F-02B7-4E5A-9C21-0FA8EAA0A6F2}"/>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‏جمع‌بندی شواهد فصل چهارم و پنجم</a:t>
            </a:r>
          </a:p>
        </p:txBody>
      </p:sp>
      <p:sp>
        <p:nvSpPr>
          <p:cNvPr id="5" name="">
            <a:extLst xmlns:a="http://schemas.openxmlformats.org/drawingml/2006/main">
              <a:ext uri="{FF2B5EF4-FFF2-40B4-BE49-F238E27FC236}">
                <a16:creationId xmlns:a16="http://schemas.microsoft.com/office/drawing/2014/main" id="{669C8D12-BAFF-4660-B64E-9467B6039741}"/>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17</a:t>
            </a:r>
          </a:p>
        </p:txBody>
      </p:sp>
      <p:sp>
        <p:nvSpPr>
          <p:cNvPr id="6" name="">
            <a:extLst xmlns:a="http://schemas.openxmlformats.org/drawingml/2006/main">
              <a:ext uri="{FF2B5EF4-FFF2-40B4-BE49-F238E27FC236}">
                <a16:creationId xmlns:a16="http://schemas.microsoft.com/office/drawing/2014/main" id="{8423B7AA-D175-4D55-B2C7-11A71A0407FC}"/>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graphicFrame>
        <p:nvGraphicFramePr>
          <p:cNvPr id="17" name=""/>
          <p:cNvGraphicFramePr/>
          <p:nvPr/>
        </p:nvGraphicFramePr>
        <p:xfrm>
          <a:off xmlns:a="http://schemas.openxmlformats.org/drawingml/2006/main" x="1000125" y="1428750"/>
          <a:ext xmlns:a="http://schemas.openxmlformats.org/drawingml/2006/main" cx="10191750" cy="4333875"/>
        </p:xfrm>
        <a:graphic xmlns:a="http://schemas.openxmlformats.org/drawingml/2006/main">
          <a:graphicData uri="http://schemas.openxmlformats.org/drawingml/2006/table">
            <a:tbl>
              <a:tblPr/>
              <a:tblGrid>
                <a:gridCol w="4095750"/>
                <a:gridCol w="6096000"/>
              </a:tblGrid>
              <a:tr h="722313">
                <a:tc>
                  <a:txBody>
                    <a:bodyPr/>
                    <a:lstStyle/>
                    <a:p>
                      <a:pPr algn="ctr">
                        <a:buNone/>
                      </a:pPr>
                      <a:r>
                        <a:rPr sz="1650" b="1">
                          <a:solidFill>
                            <a:srgbClr val="FFFFFF"/>
                          </a:solidFill>
                          <a:latin typeface="Noto Sans Arabic"/>
                          <a:ea typeface="Noto Sans Arabic"/>
                          <a:cs typeface="Noto Sans Arabic"/>
                        </a:rPr>
                        <a:t>پرسش</a:t>
                      </a:r>
                    </a:p>
                  </a:txBody>
                  <a:tcPr marL="91440" marR="91440" marT="45720" marB="45720" anchor="ctr">
                    <a:solidFill>
                      <a:srgbClr val="163F63"/>
                    </a:solidFill>
                  </a:tcPr>
                </a:tc>
                <a:tc>
                  <a:txBody>
                    <a:bodyPr/>
                    <a:lstStyle/>
                    <a:p>
                      <a:pPr algn="ctr">
                        <a:buNone/>
                      </a:pPr>
                      <a:r>
                        <a:rPr sz="1650" b="1">
                          <a:solidFill>
                            <a:srgbClr val="FFFFFF"/>
                          </a:solidFill>
                          <a:latin typeface="Noto Sans Arabic"/>
                          <a:ea typeface="Noto Sans Arabic"/>
                          <a:cs typeface="Noto Sans Arabic"/>
                        </a:rPr>
                        <a:t>پاسخ کوتاه مبتنی بر نتایج</a:t>
                      </a:r>
                    </a:p>
                  </a:txBody>
                  <a:tcPr marL="91440" marR="91440" marT="45720" marB="45720" anchor="ctr">
                    <a:solidFill>
                      <a:srgbClr val="163F63"/>
                    </a:solidFill>
                  </a:tcPr>
                </a:tc>
              </a:tr>
              <a:tr h="722313">
                <a:tc>
                  <a:txBody>
                    <a:bodyPr/>
                    <a:lstStyle/>
                    <a:p>
                      <a:pPr algn="r">
                        <a:buNone/>
                      </a:pPr>
                      <a:r>
                        <a:rPr sz="1425">
                          <a:solidFill>
                            <a:srgbClr val="17202A"/>
                          </a:solidFill>
                          <a:latin typeface="Noto Sans Arabic"/>
                          <a:ea typeface="Noto Sans Arabic"/>
                          <a:cs typeface="Noto Sans Arabic"/>
                        </a:rPr>
                        <a:t>آیا روش حمله را تشخیص می‌دهد؟</a:t>
                      </a:r>
                    </a:p>
                  </a:txBody>
                  <a:tcPr marL="95250" marR="95250" marT="76200" marB="76200" anchor="ctr">
                    <a:solidFill>
                      <a:srgbClr val="EAF2F8"/>
                    </a:solidFill>
                  </a:tcPr>
                </a:tc>
                <a:tc>
                  <a:txBody>
                    <a:bodyPr/>
                    <a:lstStyle/>
                    <a:p>
                      <a:pPr algn="r">
                        <a:buNone/>
                      </a:pPr>
                      <a:r>
                        <a:rPr sz="1425">
                          <a:solidFill>
                            <a:srgbClr val="17202A"/>
                          </a:solidFill>
                          <a:latin typeface="Noto Sans Arabic"/>
                          <a:ea typeface="Noto Sans Arabic"/>
                          <a:cs typeface="Noto Sans Arabic"/>
                        </a:rPr>
                        <a:t>بله؛ بازخوانی در چهار تکرار ۱۰۰٪ بود.</a:t>
                      </a:r>
                    </a:p>
                  </a:txBody>
                  <a:tcPr marL="95250" marR="95250" marT="76200" marB="76200" anchor="ctr">
                    <a:solidFill>
                      <a:srgbClr val="FFFFFF"/>
                    </a:solidFill>
                  </a:tcPr>
                </a:tc>
              </a:tr>
              <a:tr h="722313">
                <a:tc>
                  <a:txBody>
                    <a:bodyPr/>
                    <a:lstStyle/>
                    <a:p>
                      <a:pPr algn="r">
                        <a:buNone/>
                      </a:pPr>
                      <a:r>
                        <a:rPr sz="1425">
                          <a:solidFill>
                            <a:srgbClr val="17202A"/>
                          </a:solidFill>
                          <a:latin typeface="Noto Sans Arabic"/>
                          <a:ea typeface="Noto Sans Arabic"/>
                          <a:cs typeface="Noto Sans Arabic"/>
                        </a:rPr>
                        <a:t>آیا ساختار ترافیک جدا می‌شود؟</a:t>
                      </a:r>
                    </a:p>
                  </a:txBody>
                  <a:tcPr marL="95250" marR="95250" marT="76200" marB="76200" anchor="ctr">
                    <a:solidFill>
                      <a:srgbClr val="E7F4F1"/>
                    </a:solidFill>
                  </a:tcPr>
                </a:tc>
                <a:tc>
                  <a:txBody>
                    <a:bodyPr/>
                    <a:lstStyle/>
                    <a:p>
                      <a:pPr algn="r">
                        <a:buNone/>
                      </a:pPr>
                      <a:r>
                        <a:rPr sz="1425">
                          <a:solidFill>
                            <a:srgbClr val="17202A"/>
                          </a:solidFill>
                          <a:latin typeface="Noto Sans Arabic"/>
                          <a:ea typeface="Noto Sans Arabic"/>
                          <a:cs typeface="Noto Sans Arabic"/>
                        </a:rPr>
                        <a:t>بله؛ در همه epsها دو خوشه غیرنویز شکل گرفت.</a:t>
                      </a:r>
                    </a:p>
                  </a:txBody>
                  <a:tcPr marL="95250" marR="95250" marT="76200" marB="76200" anchor="ctr">
                    <a:solidFill>
                      <a:srgbClr val="F2F8F6"/>
                    </a:solidFill>
                  </a:tcPr>
                </a:tc>
              </a:tr>
              <a:tr h="722313">
                <a:tc>
                  <a:txBody>
                    <a:bodyPr/>
                    <a:lstStyle/>
                    <a:p>
                      <a:pPr algn="r">
                        <a:buNone/>
                      </a:pPr>
                      <a:r>
                        <a:rPr sz="1425">
                          <a:solidFill>
                            <a:srgbClr val="17202A"/>
                          </a:solidFill>
                          <a:latin typeface="Noto Sans Arabic"/>
                          <a:ea typeface="Noto Sans Arabic"/>
                          <a:cs typeface="Noto Sans Arabic"/>
                        </a:rPr>
                        <a:t>انتخاب eps چه اثری دارد؟</a:t>
                      </a:r>
                    </a:p>
                  </a:txBody>
                  <a:tcPr marL="95250" marR="95250" marT="76200" marB="76200" anchor="ctr">
                    <a:solidFill>
                      <a:srgbClr val="EAF2F8"/>
                    </a:solidFill>
                  </a:tcPr>
                </a:tc>
                <a:tc>
                  <a:txBody>
                    <a:bodyPr/>
                    <a:lstStyle/>
                    <a:p>
                      <a:pPr algn="r">
                        <a:buNone/>
                      </a:pPr>
                      <a:r>
                        <a:rPr sz="1425">
                          <a:solidFill>
                            <a:srgbClr val="17202A"/>
                          </a:solidFill>
                          <a:latin typeface="Noto Sans Arabic"/>
                          <a:ea typeface="Noto Sans Arabic"/>
                          <a:cs typeface="Noto Sans Arabic"/>
                        </a:rPr>
                        <a:t>افزایش eps نویز را کم کرد، اما دو نمونه پرنرخ به خوشه عادی پیوستند.</a:t>
                      </a:r>
                    </a:p>
                  </a:txBody>
                  <a:tcPr marL="95250" marR="95250" marT="76200" marB="76200" anchor="ctr">
                    <a:solidFill>
                      <a:srgbClr val="FFFFFF"/>
                    </a:solidFill>
                  </a:tcPr>
                </a:tc>
              </a:tr>
              <a:tr h="722313">
                <a:tc>
                  <a:txBody>
                    <a:bodyPr/>
                    <a:lstStyle/>
                    <a:p>
                      <a:pPr algn="r">
                        <a:buNone/>
                      </a:pPr>
                      <a:r>
                        <a:rPr sz="1425">
                          <a:solidFill>
                            <a:srgbClr val="17202A"/>
                          </a:solidFill>
                          <a:latin typeface="Noto Sans Arabic"/>
                          <a:ea typeface="Noto Sans Arabic"/>
                          <a:cs typeface="Noto Sans Arabic"/>
                        </a:rPr>
                        <a:t>آیا نتیجه در اجرای مستقل پایدار است؟</a:t>
                      </a:r>
                    </a:p>
                  </a:txBody>
                  <a:tcPr marL="95250" marR="95250" marT="76200" marB="76200" anchor="ctr">
                    <a:solidFill>
                      <a:srgbClr val="E7F4F1"/>
                    </a:solidFill>
                  </a:tcPr>
                </a:tc>
                <a:tc>
                  <a:txBody>
                    <a:bodyPr/>
                    <a:lstStyle/>
                    <a:p>
                      <a:pPr algn="r">
                        <a:buNone/>
                      </a:pPr>
                      <a:r>
                        <a:rPr sz="1425">
                          <a:solidFill>
                            <a:srgbClr val="17202A"/>
                          </a:solidFill>
                          <a:latin typeface="Noto Sans Arabic"/>
                          <a:ea typeface="Noto Sans Arabic"/>
                          <a:cs typeface="Noto Sans Arabic"/>
                        </a:rPr>
                        <a:t>بله؛ F1 بین ۹۴٫۱۲٪ و ۹۶٫۵۵٪ باقی ماند.</a:t>
                      </a:r>
                    </a:p>
                  </a:txBody>
                  <a:tcPr marL="95250" marR="95250" marT="76200" marB="76200" anchor="ctr">
                    <a:solidFill>
                      <a:srgbClr val="F2F8F6"/>
                    </a:solidFill>
                  </a:tcPr>
                </a:tc>
              </a:tr>
              <a:tr h="722313">
                <a:tc>
                  <a:txBody>
                    <a:bodyPr/>
                    <a:lstStyle/>
                    <a:p>
                      <a:pPr algn="r">
                        <a:buNone/>
                      </a:pPr>
                      <a:r>
                        <a:rPr sz="1425">
                          <a:solidFill>
                            <a:srgbClr val="17202A"/>
                          </a:solidFill>
                          <a:latin typeface="Noto Sans Arabic"/>
                          <a:ea typeface="Noto Sans Arabic"/>
                          <a:cs typeface="Noto Sans Arabic"/>
                        </a:rPr>
                        <a:t>محدودیت اصلی چیست؟</a:t>
                      </a:r>
                    </a:p>
                  </a:txBody>
                  <a:tcPr marL="95250" marR="95250" marT="76200" marB="76200" anchor="ctr">
                    <a:solidFill>
                      <a:srgbClr val="EAF2F8"/>
                    </a:solidFill>
                  </a:tcPr>
                </a:tc>
                <a:tc>
                  <a:txBody>
                    <a:bodyPr/>
                    <a:lstStyle/>
                    <a:p>
                      <a:pPr algn="r">
                        <a:buNone/>
                      </a:pPr>
                      <a:r>
                        <a:rPr sz="1425">
                          <a:solidFill>
                            <a:srgbClr val="17202A"/>
                          </a:solidFill>
                          <a:latin typeface="Noto Sans Arabic"/>
                          <a:ea typeface="Noto Sans Arabic"/>
                          <a:cs typeface="Noto Sans Arabic"/>
                        </a:rPr>
                        <a:t>هشدار کاذب ۱۱٫۱۶٪ و دامنه محدود سناریوی آزمایش.</a:t>
                      </a:r>
                    </a:p>
                  </a:txBody>
                  <a:tcPr marL="95250" marR="95250" marT="76200" marB="7620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E83CB51-4011-4C6D-BD2D-05B61954D1A8}"/>
              </a:ext>
            </a:extLst>
          </p:cNvPr>
          <p:cNvSpPr>
            <a:spLocks xmlns:a="http://schemas.openxmlformats.org/drawingml/2006/main" noGrp="1"/>
          </p:cNvSpPr>
          <p:nvPr/>
        </p:nvSpPr>
        <p:spPr>
          <a:xfrm xmlns:a="http://schemas.openxmlformats.org/drawingml/2006/main">
            <a:off x="1333500" y="58578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575" b="1">
                <a:solidFill>
                  <a:srgbClr val="163F63"/>
                </a:solidFill>
                <a:latin typeface="Noto Sans Arabic"/>
                <a:ea typeface="Noto Sans Arabic"/>
                <a:cs typeface="Noto Sans Arabic"/>
              </a:defRPr>
            </a:pPr>
            <a:r>
              <a:rPr sz="1575" b="1">
                <a:solidFill>
                  <a:srgbClr val="163F63"/>
                </a:solidFill>
                <a:latin typeface="Noto Sans Arabic"/>
                <a:ea typeface="Noto Sans Arabic"/>
                <a:cs typeface="Noto Sans Arabic"/>
              </a:rPr>
              <a:t>‏نتیجه کلی: روش پیشنهادی حمله پرنرخ را به‌طور کامل شناسایی کرد، اما برای کاهش هشدار کاذب به بهبود پنجره‌بندی نیاز دارد.</a:t>
            </a:r>
          </a:p>
        </p:txBody>
      </p:sp>
    </p:spTree>
    <p:extLst>
      <p:ext uri="{BB962C8B-B14F-4D97-AF65-F5344CB8AC3E}">
        <p14:creationId xmlns:p14="http://schemas.microsoft.com/office/powerpoint/2010/main" val="425352340"/>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410846-D3E9-42D7-B111-A3535609F3AF}"/>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2" name="">
            <a:extLst xmlns:a="http://schemas.openxmlformats.org/drawingml/2006/main">
              <a:ext uri="{FF2B5EF4-FFF2-40B4-BE49-F238E27FC236}">
                <a16:creationId xmlns:a16="http://schemas.microsoft.com/office/drawing/2014/main" id="{25C694D1-0E51-4998-9663-2DAF109F6E71}"/>
              </a:ext>
            </a:extLst>
          </p:cNvPr>
          <p:cNvSpPr>
            <a:spLocks xmlns:a="http://schemas.openxmlformats.org/drawingml/2006/main" noGrp="1"/>
          </p:cNvSpPr>
          <p:nvPr/>
        </p:nvSpPr>
        <p:spPr>
          <a:xfrm xmlns:a="http://schemas.openxmlformats.org/drawingml/2006/main">
            <a:off x="11106150" y="504825"/>
            <a:ext cx="476250" cy="66675"/>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005F6F-74E1-4E3A-AFC2-B1F67A5B7AF9}"/>
              </a:ext>
            </a:extLst>
          </p:cNvPr>
          <p:cNvSpPr>
            <a:spLocks xmlns:a="http://schemas.openxmlformats.org/drawingml/2006/main" noGrp="1"/>
          </p:cNvSpPr>
          <p:nvPr/>
        </p:nvSpPr>
        <p:spPr>
          <a:xfrm xmlns:a="http://schemas.openxmlformats.org/drawingml/2006/main">
            <a:off x="2952750" y="323850"/>
            <a:ext cx="862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625" b="1">
                <a:solidFill>
                  <a:srgbClr val="163F63"/>
                </a:solidFill>
                <a:latin typeface="Noto Kufi Arabic"/>
                <a:ea typeface="Noto Kufi Arabic"/>
                <a:cs typeface="Noto Kufi Arabic"/>
              </a:defRPr>
            </a:pPr>
            <a:r>
              <a:rPr sz="2625" b="1">
                <a:solidFill>
                  <a:srgbClr val="163F63"/>
                </a:solidFill>
                <a:latin typeface="Noto Kufi Arabic"/>
                <a:ea typeface="Noto Kufi Arabic"/>
                <a:cs typeface="Noto Kufi Arabic"/>
              </a:rPr>
              <a:t>‏ارزیابی خارجی و محدوده اعتبار</a:t>
            </a:r>
          </a:p>
        </p:txBody>
      </p:sp>
      <p:sp>
        <p:nvSpPr>
          <p:cNvPr id="4" name="">
            <a:extLst xmlns:a="http://schemas.openxmlformats.org/drawingml/2006/main">
              <a:ext uri="{FF2B5EF4-FFF2-40B4-BE49-F238E27FC236}">
                <a16:creationId xmlns:a16="http://schemas.microsoft.com/office/drawing/2014/main" id="{D356E42D-2BB5-465F-890F-052B1AFD062C}"/>
              </a:ext>
            </a:extLst>
          </p:cNvPr>
          <p:cNvSpPr>
            <a:spLocks xmlns:a="http://schemas.openxmlformats.org/drawingml/2006/main" noGrp="1"/>
          </p:cNvSpPr>
          <p:nvPr/>
        </p:nvSpPr>
        <p:spPr>
          <a:xfrm xmlns:a="http://schemas.openxmlformats.org/drawingml/2006/main">
            <a:off x="619125" y="70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125" b="0">
                <a:solidFill>
                  <a:srgbClr val="52606D"/>
                </a:solidFill>
                <a:latin typeface="Noto Sans Arabic"/>
                <a:ea typeface="Noto Sans Arabic"/>
                <a:cs typeface="Noto Sans Arabic"/>
              </a:defRPr>
            </a:pPr>
            <a:r>
              <a:rPr sz="1125" b="0">
                <a:solidFill>
                  <a:srgbClr val="52606D"/>
                </a:solidFill>
                <a:latin typeface="Noto Sans Arabic"/>
                <a:ea typeface="Noto Sans Arabic"/>
                <a:cs typeface="Noto Sans Arabic"/>
              </a:rPr>
              <a:t>‏نتایج آزمایشگاه در کنار اعتبارسنجی تکرارشونده InSDN</a:t>
            </a:r>
          </a:p>
        </p:txBody>
      </p:sp>
      <p:sp>
        <p:nvSpPr>
          <p:cNvPr id="5" name="">
            <a:extLst xmlns:a="http://schemas.openxmlformats.org/drawingml/2006/main">
              <a:ext uri="{FF2B5EF4-FFF2-40B4-BE49-F238E27FC236}">
                <a16:creationId xmlns:a16="http://schemas.microsoft.com/office/drawing/2014/main" id="{F3130A3F-B0FA-41FB-B7AD-100132581C98}"/>
              </a:ext>
            </a:extLst>
          </p:cNvPr>
          <p:cNvSpPr>
            <a:spLocks xmlns:a="http://schemas.openxmlformats.org/drawingml/2006/main" noGrp="1"/>
          </p:cNvSpPr>
          <p:nvPr/>
        </p:nvSpPr>
        <p:spPr>
          <a:xfrm xmlns:a="http://schemas.openxmlformats.org/drawingml/2006/main">
            <a:off x="6096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l">
              <a:buNone/>
              <a:defRPr sz="1050" b="0">
                <a:solidFill>
                  <a:srgbClr val="52606D"/>
                </a:solidFill>
                <a:latin typeface="Noto Sans"/>
                <a:ea typeface="Noto Sans"/>
                <a:cs typeface="Noto Sans"/>
              </a:defRPr>
            </a:pPr>
            <a:r>
              <a:rPr sz="1050" b="0">
                <a:solidFill>
                  <a:srgbClr val="52606D"/>
                </a:solidFill>
                <a:latin typeface="Noto Sans"/>
                <a:ea typeface="Noto Sans"/>
                <a:cs typeface="Noto Sans"/>
              </a:rPr>
              <a:t>18</a:t>
            </a:r>
          </a:p>
        </p:txBody>
      </p:sp>
      <p:sp>
        <p:nvSpPr>
          <p:cNvPr id="6" name="">
            <a:extLst xmlns:a="http://schemas.openxmlformats.org/drawingml/2006/main">
              <a:ext uri="{FF2B5EF4-FFF2-40B4-BE49-F238E27FC236}">
                <a16:creationId xmlns:a16="http://schemas.microsoft.com/office/drawing/2014/main" id="{4AC25B90-A8E1-4F0B-BBE4-AF613B21F109}"/>
              </a:ext>
            </a:extLst>
          </p:cNvPr>
          <p:cNvSpPr>
            <a:spLocks xmlns:a="http://schemas.openxmlformats.org/drawingml/2006/main" noGrp="1"/>
          </p:cNvSpPr>
          <p:nvPr/>
        </p:nvSpPr>
        <p:spPr>
          <a:xfrm xmlns:a="http://schemas.openxmlformats.org/drawingml/2006/main">
            <a:off x="7239000" y="6372225"/>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975" b="0">
                <a:solidFill>
                  <a:srgbClr val="52606D"/>
                </a:solidFill>
                <a:latin typeface="Noto Sans Arabic"/>
                <a:ea typeface="Noto Sans Arabic"/>
                <a:cs typeface="Noto Sans Arabic"/>
              </a:defRPr>
            </a:pPr>
            <a:r>
              <a:rPr sz="975" b="0">
                <a:solidFill>
                  <a:srgbClr val="52606D"/>
                </a:solidFill>
                <a:latin typeface="Noto Sans Arabic"/>
                <a:ea typeface="Noto Sans Arabic"/>
                <a:cs typeface="Noto Sans Arabic"/>
              </a:rPr>
              <a:t>‏پریسا اسدی  |  دفاع پایان‌نامه کارشناسی ارشد</a:t>
            </a:r>
          </a:p>
        </p:txBody>
      </p:sp>
      <p:sp>
        <p:nvSpPr>
          <p:cNvPr id="7" name="">
            <a:extLst xmlns:a="http://schemas.openxmlformats.org/drawingml/2006/main">
              <a:ext uri="{FF2B5EF4-FFF2-40B4-BE49-F238E27FC236}">
                <a16:creationId xmlns:a16="http://schemas.microsoft.com/office/drawing/2014/main" id="{8EBC22AF-A8AA-4E50-A7DA-CD2D79A571CE}"/>
              </a:ext>
            </a:extLst>
          </p:cNvPr>
          <p:cNvSpPr>
            <a:spLocks xmlns:a="http://schemas.openxmlformats.org/drawingml/2006/main" noGrp="1"/>
          </p:cNvSpPr>
          <p:nvPr/>
        </p:nvSpPr>
        <p:spPr>
          <a:xfrm xmlns:a="http://schemas.openxmlformats.org/drawingml/2006/main">
            <a:off x="6810375" y="14287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75" b="1">
                <a:solidFill>
                  <a:srgbClr val="0F766E"/>
                </a:solidFill>
                <a:latin typeface="Noto Sans Arabic"/>
                <a:ea typeface="Noto Sans Arabic"/>
                <a:cs typeface="Noto Sans Arabic"/>
              </a:defRPr>
            </a:pPr>
            <a:r>
              <a:rPr sz="2175" b="1">
                <a:solidFill>
                  <a:srgbClr val="0F766E"/>
                </a:solidFill>
                <a:latin typeface="Noto Sans Arabic"/>
                <a:ea typeface="Noto Sans Arabic"/>
                <a:cs typeface="Noto Sans Arabic"/>
              </a:rPr>
              <a:t>‏نتیجه آزمایشگاه Mininet</a:t>
            </a:r>
          </a:p>
        </p:txBody>
      </p:sp>
      <p:sp>
        <p:nvSpPr>
          <p:cNvPr id="8" name="">
            <a:extLst xmlns:a="http://schemas.openxmlformats.org/drawingml/2006/main">
              <a:ext uri="{FF2B5EF4-FFF2-40B4-BE49-F238E27FC236}">
                <a16:creationId xmlns:a16="http://schemas.microsoft.com/office/drawing/2014/main" id="{B2156E13-CAB3-4CF1-9544-366AE6AE6B05}"/>
              </a:ext>
            </a:extLst>
          </p:cNvPr>
          <p:cNvSpPr>
            <a:spLocks xmlns:a="http://schemas.openxmlformats.org/drawingml/2006/main" noGrp="1"/>
          </p:cNvSpPr>
          <p:nvPr/>
        </p:nvSpPr>
        <p:spPr>
          <a:xfrm xmlns:a="http://schemas.openxmlformats.org/drawingml/2006/main">
            <a:off x="6191250" y="207645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Recall حمله پرنرخ: ۱۰۰٪</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F1 تجمیعی: ۹۴٫۷۱٪</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FPR تجمیعی: ۱۱٫۱۶٪</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چهار تکرار مستقل و ۸۹۶ نمونه</a:t>
            </a:r>
          </a:p>
        </p:txBody>
      </p:sp>
      <p:sp>
        <p:nvSpPr>
          <p:cNvPr id="9" name="">
            <a:extLst xmlns:a="http://schemas.openxmlformats.org/drawingml/2006/main">
              <a:ext uri="{FF2B5EF4-FFF2-40B4-BE49-F238E27FC236}">
                <a16:creationId xmlns:a16="http://schemas.microsoft.com/office/drawing/2014/main" id="{9D029A18-07CA-40CA-BB81-60DDF4CC2405}"/>
              </a:ext>
            </a:extLst>
          </p:cNvPr>
          <p:cNvSpPr>
            <a:spLocks xmlns:a="http://schemas.openxmlformats.org/drawingml/2006/main" noGrp="1"/>
          </p:cNvSpPr>
          <p:nvPr/>
        </p:nvSpPr>
        <p:spPr>
          <a:xfrm xmlns:a="http://schemas.openxmlformats.org/drawingml/2006/main">
            <a:off x="5905500" y="1428750"/>
            <a:ext cx="0" cy="3905250"/>
          </a:xfrm>
          <a:prstGeom xmlns:a="http://schemas.openxmlformats.org/drawingml/2006/main" prst="line">
            <a:avLst/>
          </a:prstGeom>
          <a:noFill xmlns:a="http://schemas.openxmlformats.org/drawingml/2006/main"/>
          <a:ln xmlns:a="http://schemas.openxmlformats.org/drawingml/2006/main" w="19050">
            <a:solidFill>
              <a:srgbClr val="C9D8E6"/>
            </a:solidFill>
            <a:prstDash val="solid"/>
          </a:ln>
        </p:spPr>
      </p:sp>
      <p:sp>
        <p:nvSpPr>
          <p:cNvPr id="10" name="">
            <a:extLst xmlns:a="http://schemas.openxmlformats.org/drawingml/2006/main">
              <a:ext uri="{FF2B5EF4-FFF2-40B4-BE49-F238E27FC236}">
                <a16:creationId xmlns:a16="http://schemas.microsoft.com/office/drawing/2014/main" id="{B12BE095-6270-4A30-8E12-66B2976C80BD}"/>
              </a:ext>
            </a:extLst>
          </p:cNvPr>
          <p:cNvSpPr>
            <a:spLocks xmlns:a="http://schemas.openxmlformats.org/drawingml/2006/main" noGrp="1"/>
          </p:cNvSpPr>
          <p:nvPr/>
        </p:nvSpPr>
        <p:spPr>
          <a:xfrm xmlns:a="http://schemas.openxmlformats.org/drawingml/2006/main">
            <a:off x="1000125" y="14287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75" b="1">
                <a:solidFill>
                  <a:srgbClr val="D97706"/>
                </a:solidFill>
                <a:latin typeface="Noto Sans Arabic"/>
                <a:ea typeface="Noto Sans Arabic"/>
                <a:cs typeface="Noto Sans Arabic"/>
              </a:defRPr>
            </a:pPr>
            <a:r>
              <a:rPr sz="2175" b="1">
                <a:solidFill>
                  <a:srgbClr val="D97706"/>
                </a:solidFill>
                <a:latin typeface="Noto Sans Arabic"/>
                <a:ea typeface="Noto Sans Arabic"/>
                <a:cs typeface="Noto Sans Arabic"/>
              </a:rPr>
              <a:t>‏اعتبارسنجی خارجی InSDN</a:t>
            </a:r>
          </a:p>
        </p:txBody>
      </p:sp>
      <p:sp>
        <p:nvSpPr>
          <p:cNvPr id="11" name="">
            <a:extLst xmlns:a="http://schemas.openxmlformats.org/drawingml/2006/main">
              <a:ext uri="{FF2B5EF4-FFF2-40B4-BE49-F238E27FC236}">
                <a16:creationId xmlns:a16="http://schemas.microsoft.com/office/drawing/2014/main" id="{2E77812B-647E-4FD2-91C3-3BF211FE33DB}"/>
              </a:ext>
            </a:extLst>
          </p:cNvPr>
          <p:cNvSpPr>
            <a:spLocks xmlns:a="http://schemas.openxmlformats.org/drawingml/2006/main" noGrp="1"/>
          </p:cNvSpPr>
          <p:nvPr/>
        </p:nvSpPr>
        <p:spPr>
          <a:xfrm xmlns:a="http://schemas.openxmlformats.org/drawingml/2006/main">
            <a:off x="904875" y="20764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پنج تقسیم مستقل بر اساس Flow ID</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Recall دو‌نما: ۹۵٫۶۲٪ ± ۵٫۶۵٪</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FPR دو‌نما: ۴٫۹۹٪ ± ۱٫۰۱٪</a:t>
            </a:r>
          </a:p>
          <a:p xmlns:a="http://schemas.openxmlformats.org/drawingml/2006/main">
            <a:pPr marL="279400" indent="-127000" algn="r">
              <a:spcAft>
                <a:spcPts val="1200"/>
              </a:spcAft>
              <a:buChar char="•"/>
              <a:defRPr sz="1725">
                <a:solidFill>
                  <a:srgbClr val="17202A"/>
                </a:solidFill>
                <a:latin typeface="Noto Sans Arabic"/>
                <a:ea typeface="Noto Sans Arabic"/>
                <a:cs typeface="Noto Sans Arabic"/>
              </a:defRPr>
            </a:pPr>
            <a:r>
              <a:rPr sz="1725">
                <a:solidFill>
                  <a:srgbClr val="17202A"/>
                </a:solidFill>
                <a:latin typeface="Noto Sans Arabic"/>
                <a:ea typeface="Noto Sans Arabic"/>
                <a:cs typeface="Noto Sans Arabic"/>
              </a:rPr>
              <a:t>‏</a:t>
            </a:r>
            <a:r>
              <a:rPr sz="1725">
                <a:solidFill>
                  <a:srgbClr val="17202A"/>
                </a:solidFill>
                <a:latin typeface="Noto Sans Arabic"/>
                <a:ea typeface="Noto Sans Arabic"/>
                <a:cs typeface="Noto Sans Arabic"/>
              </a:rPr>
              <a:t>بدون Protocol و بدون برچسب در کالیبراسیون</a:t>
            </a:r>
          </a:p>
        </p:txBody>
      </p:sp>
      <p:sp>
        <p:nvSpPr>
          <p:cNvPr id="12" name="">
            <a:extLst xmlns:a="http://schemas.openxmlformats.org/drawingml/2006/main">
              <a:ext uri="{FF2B5EF4-FFF2-40B4-BE49-F238E27FC236}">
                <a16:creationId xmlns:a16="http://schemas.microsoft.com/office/drawing/2014/main" id="{9A4A58FC-4E38-4DDC-98E8-BD9CD40AC490}"/>
              </a:ext>
            </a:extLst>
          </p:cNvPr>
          <p:cNvSpPr>
            <a:spLocks xmlns:a="http://schemas.openxmlformats.org/drawingml/2006/main" noGrp="1"/>
          </p:cNvSpPr>
          <p:nvPr/>
        </p:nvSpPr>
        <p:spPr>
          <a:xfrm xmlns:a="http://schemas.openxmlformats.org/drawingml/2006/main">
            <a:off x="1428750" y="5334000"/>
            <a:ext cx="9334500" cy="609600"/>
          </a:xfrm>
          <a:prstGeom xmlns:a="http://schemas.openxmlformats.org/drawingml/2006/main" prst="roundRect">
            <a:avLst>
              <a:gd name="adj" fmla="val 25000"/>
            </a:avLst>
          </a:prstGeom>
          <a:solidFill xmlns:a="http://schemas.openxmlformats.org/drawingml/2006/main">
            <a:srgbClr val="163F63"/>
          </a:solidFill>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1">
                <a:solidFill>
                  <a:srgbClr val="FFFFFF"/>
                </a:solidFill>
                <a:latin typeface="Noto Sans Arabic"/>
                <a:ea typeface="Noto Sans Arabic"/>
                <a:cs typeface="Noto Sans Arabic"/>
              </a:defRPr>
            </a:pPr>
            <a:r>
              <a:rPr sz="1725" b="1">
                <a:solidFill>
                  <a:srgbClr val="FFFFFF"/>
                </a:solidFill>
                <a:latin typeface="Noto Sans Arabic"/>
                <a:ea typeface="Noto Sans Arabic"/>
                <a:cs typeface="Noto Sans Arabic"/>
              </a:rPr>
              <a:t>‏نتیجه InSDN تکمیلی است و جایگزین آزمایش اصلی Mininet نیست. تفاوت محیط و توزیع حمله، دامنه تعمیم را محدود می‌کند.</a:t>
            </a:r>
          </a:p>
        </p:txBody>
      </p:sp>
    </p:spTree>
    <p:extLst>
      <p:ext uri="{BB962C8B-B14F-4D97-AF65-F5344CB8AC3E}">
        <p14:creationId xmlns:p14="http://schemas.microsoft.com/office/powerpoint/2010/main" val="183152012"/>
      </p:ext>
    </p:extLst>
  </p:cSld>
</p:sld>
</file>

<file path=ppt/slides/slide19.xml><?xml version="1.0" encoding="utf-8"?>
<p:sld xmlns:p="http://schemas.openxmlformats.org/presentationml/2006/main">
  <p:cSld>
    <p:bg>
      <p:bgPr>
        <a:solidFill xmlns:a="http://schemas.openxmlformats.org/drawingml/2006/main">
          <a:srgbClr val="163F6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14D982-0790-4459-BA71-62200169C727}"/>
              </a:ext>
            </a:extLst>
          </p:cNvPr>
          <p:cNvSpPr>
            <a:spLocks xmlns:a="http://schemas.openxmlformats.org/drawingml/2006/main" noGrp="1"/>
          </p:cNvSpPr>
          <p:nvPr/>
        </p:nvSpPr>
        <p:spPr>
          <a:xfrm xmlns:a="http://schemas.openxmlformats.org/drawingml/2006/main">
            <a:off x="6762750" y="6667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3150" b="1">
                <a:solidFill>
                  <a:srgbClr val="FFFFFF"/>
                </a:solidFill>
                <a:latin typeface="Noto Kufi Arabic"/>
                <a:ea typeface="Noto Kufi Arabic"/>
                <a:cs typeface="Noto Kufi Arabic"/>
              </a:defRPr>
            </a:pPr>
            <a:r>
              <a:rPr sz="3150" b="1">
                <a:solidFill>
                  <a:srgbClr val="FFFFFF"/>
                </a:solidFill>
                <a:latin typeface="Noto Kufi Arabic"/>
                <a:ea typeface="Noto Kufi Arabic"/>
                <a:cs typeface="Noto Kufi Arabic"/>
              </a:rPr>
              <a:t>‏جمع‌بندی</a:t>
            </a:r>
          </a:p>
        </p:txBody>
      </p:sp>
      <p:sp>
        <p:nvSpPr>
          <p:cNvPr id="2" name="">
            <a:extLst xmlns:a="http://schemas.openxmlformats.org/drawingml/2006/main">
              <a:ext uri="{FF2B5EF4-FFF2-40B4-BE49-F238E27FC236}">
                <a16:creationId xmlns:a16="http://schemas.microsoft.com/office/drawing/2014/main" id="{2FE9679C-42BA-4EFE-8028-9C2CD070B101}"/>
              </a:ext>
            </a:extLst>
          </p:cNvPr>
          <p:cNvSpPr>
            <a:spLocks xmlns:a="http://schemas.openxmlformats.org/drawingml/2006/main" noGrp="1"/>
          </p:cNvSpPr>
          <p:nvPr/>
        </p:nvSpPr>
        <p:spPr>
          <a:xfrm xmlns:a="http://schemas.openxmlformats.org/drawingml/2006/main">
            <a:off x="5572125" y="1524000"/>
            <a:ext cx="5476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75" b="1">
                <a:solidFill>
                  <a:srgbClr val="FFFFFF"/>
                </a:solidFill>
                <a:latin typeface="Noto Sans Arabic"/>
                <a:ea typeface="Noto Sans Arabic"/>
                <a:cs typeface="Noto Sans Arabic"/>
              </a:defRPr>
            </a:pPr>
            <a:r>
              <a:rPr sz="2175" b="1">
                <a:solidFill>
                  <a:srgbClr val="FFFFFF"/>
                </a:solidFill>
                <a:latin typeface="Noto Sans Arabic"/>
                <a:ea typeface="Noto Sans Arabic"/>
                <a:cs typeface="Noto Sans Arabic"/>
              </a:rPr>
              <a:t>‏آزمایش Mininet به F1 برابر ۹۴٫۷۱٪ رسید. در پنج تقسیم InSDN، مدل دو‌نما Recall میانگین ۹۵٫۶۲٪ و FPR میانگین ۴٫۹۹٪ داشت.</a:t>
            </a:r>
          </a:p>
        </p:txBody>
      </p:sp>
      <p:sp>
        <p:nvSpPr>
          <p:cNvPr id="3" name="">
            <a:extLst xmlns:a="http://schemas.openxmlformats.org/drawingml/2006/main">
              <a:ext uri="{FF2B5EF4-FFF2-40B4-BE49-F238E27FC236}">
                <a16:creationId xmlns:a16="http://schemas.microsoft.com/office/drawing/2014/main" id="{82EBCEA1-AE2C-4C04-A3D6-92DB729B6E0F}"/>
              </a:ext>
            </a:extLst>
          </p:cNvPr>
          <p:cNvSpPr>
            <a:spLocks xmlns:a="http://schemas.openxmlformats.org/drawingml/2006/main" noGrp="1"/>
          </p:cNvSpPr>
          <p:nvPr/>
        </p:nvSpPr>
        <p:spPr>
          <a:xfrm xmlns:a="http://schemas.openxmlformats.org/drawingml/2006/main">
            <a:off x="6762750" y="319087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2100" b="1">
                <a:solidFill>
                  <a:srgbClr val="8FE0D4"/>
                </a:solidFill>
                <a:latin typeface="Noto Sans Arabic"/>
                <a:ea typeface="Noto Sans Arabic"/>
                <a:cs typeface="Noto Sans Arabic"/>
              </a:defRPr>
            </a:pPr>
            <a:r>
              <a:rPr sz="2100" b="1">
                <a:solidFill>
                  <a:srgbClr val="8FE0D4"/>
                </a:solidFill>
                <a:latin typeface="Noto Sans Arabic"/>
                <a:ea typeface="Noto Sans Arabic"/>
                <a:cs typeface="Noto Sans Arabic"/>
              </a:rPr>
              <a:t>‏گام پژوهشی بعدی</a:t>
            </a:r>
          </a:p>
        </p:txBody>
      </p:sp>
      <p:sp>
        <p:nvSpPr>
          <p:cNvPr id="4" name="">
            <a:extLst xmlns:a="http://schemas.openxmlformats.org/drawingml/2006/main">
              <a:ext uri="{FF2B5EF4-FFF2-40B4-BE49-F238E27FC236}">
                <a16:creationId xmlns:a16="http://schemas.microsoft.com/office/drawing/2014/main" id="{A6FA47E2-CE84-45FE-9DAE-E0A067F70888}"/>
              </a:ext>
            </a:extLst>
          </p:cNvPr>
          <p:cNvSpPr>
            <a:spLocks xmlns:a="http://schemas.openxmlformats.org/drawingml/2006/main" noGrp="1"/>
          </p:cNvSpPr>
          <p:nvPr/>
        </p:nvSpPr>
        <p:spPr>
          <a:xfrm xmlns:a="http://schemas.openxmlformats.org/drawingml/2006/main">
            <a:off x="5572125" y="3762375"/>
            <a:ext cx="547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r">
              <a:buNone/>
              <a:defRPr sz="1875" b="0">
                <a:solidFill>
                  <a:srgbClr val="FFFFFF"/>
                </a:solidFill>
                <a:latin typeface="Noto Sans Arabic"/>
                <a:ea typeface="Noto Sans Arabic"/>
                <a:cs typeface="Noto Sans Arabic"/>
              </a:defRPr>
            </a:pPr>
            <a:r>
              <a:rPr sz="1875" b="0">
                <a:solidFill>
                  <a:srgbClr val="FFFFFF"/>
                </a:solidFill>
                <a:latin typeface="Noto Sans Arabic"/>
                <a:ea typeface="Noto Sans Arabic"/>
                <a:cs typeface="Noto Sans Arabic"/>
              </a:rPr>
              <a:t>‏جفت‌سازی جریان رفت و برگشت در OpenFlow، کالیبراسیون دوره‌ای و آزمون روی توپولوژی‌ها و دیتاست‌های مستقل دیگر.</a:t>
            </a:r>
          </a:p>
        </p:txBody>
      </p:sp>
      <p:sp>
        <p:nvSpPr>
          <p:cNvPr id="5" name="">
            <a:extLst xmlns:a="http://schemas.openxmlformats.org/drawingml/2006/main">
              <a:ext uri="{FF2B5EF4-FFF2-40B4-BE49-F238E27FC236}">
                <a16:creationId xmlns:a16="http://schemas.microsoft.com/office/drawing/2014/main" id="{1430525A-E4E1-448D-9631-0FA65C2E91EE}"/>
              </a:ext>
            </a:extLst>
          </p:cNvPr>
          <p:cNvSpPr>
            <a:spLocks xmlns:a="http://schemas.openxmlformats.org/drawingml/2006/main" noGrp="1"/>
          </p:cNvSpPr>
          <p:nvPr/>
        </p:nvSpPr>
        <p:spPr>
          <a:xfrm xmlns:a="http://schemas.openxmlformats.org/drawingml/2006/main">
            <a:off x="4810125" y="857250"/>
            <a:ext cx="0" cy="4953000"/>
          </a:xfrm>
          <a:prstGeom xmlns:a="http://schemas.openxmlformats.org/drawingml/2006/main" prst="line">
            <a:avLst/>
          </a:prstGeom>
          <a:noFill xmlns:a="http://schemas.openxmlformats.org/drawingml/2006/main"/>
          <a:ln xmlns:a="http://schemas.openxmlformats.org/drawingml/2006/main" w="19050">
            <a:solidFill>
              <a:srgbClr val="4F7898"/>
            </a:solidFill>
            <a:prstDash val="solid"/>
          </a:ln>
        </p:spPr>
      </p:sp>
      <p:sp>
        <p:nvSpPr>
          <p:cNvPr id="6" name="">
            <a:extLst xmlns:a="http://schemas.openxmlformats.org/drawingml/2006/main">
              <a:ext uri="{FF2B5EF4-FFF2-40B4-BE49-F238E27FC236}">
                <a16:creationId xmlns:a16="http://schemas.microsoft.com/office/drawing/2014/main" id="{D2C60703-9E74-4CBC-9585-84D32B5DA092}"/>
              </a:ext>
            </a:extLst>
          </p:cNvPr>
          <p:cNvSpPr>
            <a:spLocks xmlns:a="http://schemas.openxmlformats.org/drawingml/2006/main" noGrp="1"/>
          </p:cNvSpPr>
          <p:nvPr/>
        </p:nvSpPr>
        <p:spPr>
          <a:xfrm xmlns:a="http://schemas.openxmlformats.org/drawingml/2006/main">
            <a:off x="857250" y="195262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3300" b="1">
                <a:solidFill>
                  <a:srgbClr val="FFFFFF"/>
                </a:solidFill>
                <a:latin typeface="Noto Kufi Arabic"/>
                <a:ea typeface="Noto Kufi Arabic"/>
                <a:cs typeface="Noto Kufi Arabic"/>
              </a:defRPr>
            </a:pPr>
            <a:r>
              <a:rPr sz="3300" b="1">
                <a:solidFill>
                  <a:srgbClr val="FFFFFF"/>
                </a:solidFill>
                <a:latin typeface="Noto Kufi Arabic"/>
                <a:ea typeface="Noto Kufi Arabic"/>
                <a:cs typeface="Noto Kufi Arabic"/>
              </a:rPr>
              <a:t>‏سپاسگزارم</a:t>
            </a:r>
          </a:p>
        </p:txBody>
      </p:sp>
      <p:sp>
        <p:nvSpPr>
          <p:cNvPr id="7" name="">
            <a:extLst xmlns:a="http://schemas.openxmlformats.org/drawingml/2006/main">
              <a:ext uri="{FF2B5EF4-FFF2-40B4-BE49-F238E27FC236}">
                <a16:creationId xmlns:a16="http://schemas.microsoft.com/office/drawing/2014/main" id="{21714474-E515-44A8-A4AE-E899FCBBE050}"/>
              </a:ext>
            </a:extLst>
          </p:cNvPr>
          <p:cNvSpPr>
            <a:spLocks xmlns:a="http://schemas.openxmlformats.org/drawingml/2006/main" noGrp="1"/>
          </p:cNvSpPr>
          <p:nvPr/>
        </p:nvSpPr>
        <p:spPr>
          <a:xfrm xmlns:a="http://schemas.openxmlformats.org/drawingml/2006/main">
            <a:off x="857250" y="30003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2250" b="0">
                <a:solidFill>
                  <a:srgbClr val="8FE0D4"/>
                </a:solidFill>
                <a:latin typeface="Noto Sans Arabic"/>
                <a:ea typeface="Noto Sans Arabic"/>
                <a:cs typeface="Noto Sans Arabic"/>
              </a:defRPr>
            </a:pPr>
            <a:r>
              <a:rPr sz="2250" b="0">
                <a:solidFill>
                  <a:srgbClr val="8FE0D4"/>
                </a:solidFill>
                <a:latin typeface="Noto Sans Arabic"/>
                <a:ea typeface="Noto Sans Arabic"/>
                <a:cs typeface="Noto Sans Arabic"/>
              </a:rPr>
              <a:t>‏پرسش و پاسخ</a:t>
            </a:r>
          </a:p>
        </p:txBody>
      </p:sp>
      <p:sp>
        <p:nvSpPr>
          <p:cNvPr id="8" name="">
            <a:extLst xmlns:a="http://schemas.openxmlformats.org/drawingml/2006/main">
              <a:ext uri="{FF2B5EF4-FFF2-40B4-BE49-F238E27FC236}">
                <a16:creationId xmlns:a16="http://schemas.microsoft.com/office/drawing/2014/main" id="{E6D92186-BFA7-45E0-852C-4980C8FAA347}"/>
              </a:ext>
            </a:extLst>
          </p:cNvPr>
          <p:cNvSpPr>
            <a:spLocks xmlns:a="http://schemas.openxmlformats.org/drawingml/2006/main" noGrp="1"/>
          </p:cNvSpPr>
          <p:nvPr/>
        </p:nvSpPr>
        <p:spPr>
          <a:xfrm xmlns:a="http://schemas.openxmlformats.org/drawingml/2006/main">
            <a:off x="857250" y="47625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725" b="0">
                <a:solidFill>
                  <a:srgbClr val="FFFFFF"/>
                </a:solidFill>
                <a:latin typeface="Noto Sans Arabic"/>
                <a:ea typeface="Noto Sans Arabic"/>
                <a:cs typeface="Noto Sans Arabic"/>
              </a:defRPr>
            </a:pPr>
            <a:r>
              <a:rPr sz="1725" b="0">
                <a:solidFill>
                  <a:srgbClr val="FFFFFF"/>
                </a:solidFill>
                <a:latin typeface="Noto Sans Arabic"/>
                <a:ea typeface="Noto Sans Arabic"/>
                <a:cs typeface="Noto Sans Arabic"/>
              </a:rPr>
              <a:t>‏پریسا اسدی</a:t>
            </a:r>
          </a:p>
        </p:txBody>
      </p:sp>
      <p:sp>
        <p:nvSpPr>
          <p:cNvPr id="9" name="">
            <a:extLst xmlns:a="http://schemas.openxmlformats.org/drawingml/2006/main">
              <a:ext uri="{FF2B5EF4-FFF2-40B4-BE49-F238E27FC236}">
                <a16:creationId xmlns:a16="http://schemas.microsoft.com/office/drawing/2014/main" id="{3D194823-490E-487F-B936-726ED1AE5D63}"/>
              </a:ext>
            </a:extLst>
          </p:cNvPr>
          <p:cNvSpPr>
            <a:spLocks xmlns:a="http://schemas.openxmlformats.org/drawingml/2006/main" noGrp="1"/>
          </p:cNvSpPr>
          <p:nvPr/>
        </p:nvSpPr>
        <p:spPr>
          <a:xfrm xmlns:a="http://schemas.openxmlformats.org/drawingml/2006/main">
            <a:off x="857250" y="52197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425" b="0">
                <a:solidFill>
                  <a:srgbClr val="BFD4E4"/>
                </a:solidFill>
                <a:latin typeface="Noto Sans Arabic"/>
                <a:ea typeface="Noto Sans Arabic"/>
                <a:cs typeface="Noto Sans Arabic"/>
              </a:defRPr>
            </a:pPr>
            <a:r>
              <a:rPr sz="1425" b="0">
                <a:solidFill>
                  <a:srgbClr val="BFD4E4"/>
                </a:solidFill>
                <a:latin typeface="Noto Sans Arabic"/>
                <a:ea typeface="Noto Sans Arabic"/>
                <a:cs typeface="Noto Sans Arabic"/>
              </a:rPr>
              <a:t>‏دانشگاه صنعتی سجاد</a:t>
            </a:r>
          </a:p>
        </p:txBody>
      </p:sp>
    </p:spTree>
    <p:extLst>
      <p:ext uri="{BB962C8B-B14F-4D97-AF65-F5344CB8AC3E}">
        <p14:creationId xmlns:p14="http://schemas.microsoft.com/office/powerpoint/2010/main" val="1101327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2026-09-21T10:14:07.1780000Z</dcterms:created>
  <dcterms:modified xsi:type="dcterms:W3CDTF">2026-09-21T10:14:07.1780000Z</dcterms:modified>
</coreProperties>
</file>